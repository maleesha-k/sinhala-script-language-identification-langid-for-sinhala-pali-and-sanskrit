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b5faeefbf84e72" /><Relationship Type="http://schemas.openxmlformats.org/officeDocument/2006/relationships/extended-properties" Target="/docProps/app.xml" Id="R0e7af365f53c41ff" /><Relationship Type="http://schemas.openxmlformats.org/officeDocument/2006/relationships/officeDocument" Target="/ppt/presentation.xml" Id="R358b42abd2d34d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90effad9b748ae"/>
  </p:sldMasterIdLst>
  <p:notesMasterIdLst>
    <p:notesMasterId xmlns:r="http://schemas.openxmlformats.org/officeDocument/2006/relationships" r:id="R7d843bae737c46ec"/>
  </p:notesMasterIdLst>
  <p:sldIdLst>
    <p:sldId xmlns:r="http://schemas.openxmlformats.org/officeDocument/2006/relationships" id="256" r:id="Rbde5a74b387e4f3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2c296835d4499d" /><Relationship Type="http://schemas.openxmlformats.org/officeDocument/2006/relationships/slideMaster" Target="/ppt/slideMasters/slideMaster1.xml" Id="Rba90effad9b748ae" /><Relationship Type="http://schemas.openxmlformats.org/officeDocument/2006/relationships/notesMaster" Target="/ppt/notesMasters/notesMaster1.xml" Id="R7d843bae737c46ec" /><Relationship Type="http://schemas.openxmlformats.org/officeDocument/2006/relationships/presProps" Target="/ppt/presProps.xml" Id="R18714e320b814a49" /><Relationship Type="http://schemas.openxmlformats.org/officeDocument/2006/relationships/tableStyles" Target="/ppt/tableStyles.xml" Id="R54ad175d255a4028" /><Relationship Type="http://schemas.openxmlformats.org/officeDocument/2006/relationships/slide" Target="/ppt/slides/slide1.xml" Id="Rbde5a74b387e4f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f6b72cbf6d4d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5bf81837564a9d" /><Relationship Type="http://schemas.openxmlformats.org/officeDocument/2006/relationships/notesMaster" Target="/ppt/notesMasters/notesMaster1.xml" Id="R4d4aa0412a784f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Repository evidence used for this slide:</a:t>
            </a:r>
          </a:p>
          <a:p xmlns:a="http://schemas.openxmlformats.org/drawingml/2006/main">
            <a:r>
              <a:t>C:\Users\User\Desktop\Vscode\Sinhala-Script Language Identification (LangID) for Sinhala, Pali and Sanskrit\Sinhala-Script-Language-Identification-LangID-for-Sinhala-Pali-and-Sanskrit\ACL.tex — abstract, dataset construction, Phase 1 and Phase 2 results.</a:t>
            </a:r>
          </a:p>
          <a:p xmlns:a="http://schemas.openxmlformats.org/drawingml/2006/main">
            <a:r>
              <a:t>C:\Users\User\Desktop\Vscode\Sinhala-Script Language Identification (LangID) for Sinhala, Pali and Sanskrit\Sinhala-Script-Language-Identification-LangID-for-Sinhala-Pali-and-Sanskrit\README.md — project purpose, model families, technologies and repository scope.</a:t>
            </a:r>
          </a:p>
          <a:p xmlns:a="http://schemas.openxmlformats.org/drawingml/2006/main">
            <a:r>
              <a:t>C:\Users\User\Desktop\Vscode\Sinhala-Script Language Identification (LangID) for Sinhala, Pali and Sanskrit\Sinhala-Script-Language-Identification-LangID-for-Sinhala-Pali-and-Sanskrit\Comparison Tables - Final Corrected.csv — per-model benchmark results.</a:t>
            </a:r>
          </a:p>
          <a:p xmlns:a="http://schemas.openxmlformats.org/drawingml/2006/main">
            <a:r>
              <a:t>C:\Users\User\Desktop\Vscode\Sinhala-Script Language Identification (LangID) for Sinhala, Pali and Sanskrit\Sinhala-Script-Language-Identification-LangID-for-Sinhala-Pali-and-Sanskrit\requirements.txt — implementation technologies.</a:t>
            </a:r>
          </a:p>
          <a:p xmlns:a="http://schemas.openxmlformats.org/drawingml/2006/main">
            <a:r>
              <a:t>No personal names, index numbers, group numbers or team identifiers appear on the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53f77a977f491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d79a9ceb60400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9014cc9e254e8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9744ba7b9341c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90834c307b4b6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2ac442101b4c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CB7587C-26B9-49E2-BF83-BF7D4F6D6B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5F58496-B3F5-43F3-AA7A-C2A1754AB31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17BF258-9DD9-42A8-A579-AF67D5FE82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F959157-FCC2-488F-80D1-4CC080232B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7259BAE-E85B-4072-84B7-B99E416935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4A3257B-1261-4523-B954-1F035F6B30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FB4C964-CE47-447D-A4EA-D69F78B133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0F379C3-9C70-4DB8-B131-BA5D1269BC4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C6397B0-1779-49F0-A798-2A9072B93F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CA0B705-CE34-4AB0-B103-2F8616FA8D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e53a1d7e384cf8" /><Relationship Type="http://schemas.openxmlformats.org/officeDocument/2006/relationships/slideLayout" Target="/ppt/slideLayouts/slideLayout1.xml" Id="Rcb6e139e8ba74755" /><Relationship Type="http://schemas.openxmlformats.org/officeDocument/2006/relationships/slideLayout" Target="/ppt/slideLayouts/slideLayout2.xml" Id="Re5d8b87fb8fb49fa" /><Relationship Type="http://schemas.openxmlformats.org/officeDocument/2006/relationships/slideLayout" Target="/ppt/slideLayouts/slideLayout3.xml" Id="R0d74ba9535854374" /><Relationship Type="http://schemas.openxmlformats.org/officeDocument/2006/relationships/slideLayout" Target="/ppt/slideLayouts/slideLayout4.xml" Id="R886013dc0b864259" /><Relationship Type="http://schemas.openxmlformats.org/officeDocument/2006/relationships/slideLayout" Target="/ppt/slideLayouts/slideLayout5.xml" Id="R3d059c536cab446c" /><Relationship Type="http://schemas.openxmlformats.org/officeDocument/2006/relationships/slideLayout" Target="/ppt/slideLayouts/slideLayout6.xml" Id="Rc3943672d59f47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6e139e8ba74755"/>
    <p:sldLayoutId xmlns:r="http://schemas.openxmlformats.org/officeDocument/2006/relationships" id="2147483650" r:id="Re5d8b87fb8fb49fa"/>
    <p:sldLayoutId xmlns:r="http://schemas.openxmlformats.org/officeDocument/2006/relationships" id="2147483651" r:id="R0d74ba9535854374"/>
    <p:sldLayoutId xmlns:r="http://schemas.openxmlformats.org/officeDocument/2006/relationships" id="2147483652" r:id="R886013dc0b864259"/>
    <p:sldLayoutId xmlns:r="http://schemas.openxmlformats.org/officeDocument/2006/relationships" id="2147483653" r:id="R3d059c536cab446c"/>
    <p:sldLayoutId xmlns:r="http://schemas.openxmlformats.org/officeDocument/2006/relationships" id="2147483654" r:id="Rc3943672d59f47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cfee8b153d4413" /><Relationship Type="http://schemas.openxmlformats.org/officeDocument/2006/relationships/notesSlide" Target="/ppt/notesSlides/notesSlide1.xml" Id="Rad8ae1be6552492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4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A1D7A2-A09F-426D-8890-AFA3457B8D05}"/>
              </a:ext>
            </a:extLst>
          </p:cNvPr>
          <p:cNvCxnSpPr>
            <a:stCxn xmlns:a="http://schemas.openxmlformats.org/drawingml/2006/main" id="22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 flipH="1">
            <a:off x="6115050" y="4914900"/>
            <a:ext cx="1314450" cy="3714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A184FF"/>
            </a:solidFill>
            <a:prstDash val="solid"/>
            <a:headEnd type="arrow" w="sm" len="sm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20338F-85B7-41F5-AD19-9453238E1037}"/>
              </a:ext>
            </a:extLst>
          </p:cNvPr>
          <p:cNvCxnSpPr>
            <a:stCxn xmlns:a="http://schemas.openxmlformats.org/drawingml/2006/main" id="19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4800600" y="4914900"/>
            <a:ext cx="1314450" cy="3714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F2B84B"/>
            </a:solidFill>
            <a:prstDash val="solid"/>
            <a:headEnd type="arrow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62A23E-34F7-462A-8A4B-7896ECC8B47E}"/>
              </a:ext>
            </a:extLst>
          </p:cNvPr>
          <p:cNvCxnSpPr>
            <a:stCxn xmlns:a="http://schemas.openxmlformats.org/drawingml/2006/main" id="16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6257925" y="3105150"/>
            <a:ext cx="1171575" cy="5143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37084"/>
            </a:solidFill>
            <a:prstDash val="solid"/>
            <a:headEnd type="arrow" w="sm" len="sm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F97B86-DB4C-456A-B5CD-1A2B35CB44A4}"/>
              </a:ext>
            </a:extLst>
          </p:cNvPr>
          <p:cNvCxnSpPr>
            <a:stCxn xmlns:a="http://schemas.openxmlformats.org/drawingml/2006/main" id="16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4800600" y="3105150"/>
            <a:ext cx="1457325" cy="5143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37084"/>
            </a:solidFill>
            <a:prstDash val="solid"/>
            <a:headEnd type="arrow" w="sm" len="sm"/>
          </a:ln>
        </p:spPr>
      </p:cxnSp>
      <p:sp>
        <p:nvSpPr>
          <p:cNvPr id="42" name="eyebrow">
            <a:extLst xmlns:a="http://schemas.openxmlformats.org/drawingml/2006/main">
              <a:ext uri="{FF2B5EF4-FFF2-40B4-BE49-F238E27FC236}">
                <a16:creationId xmlns:a16="http://schemas.microsoft.com/office/drawing/2014/main" id="{398E0D76-291B-477A-BCC9-8CE01FA7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 i="0">
                <a:solidFill>
                  <a:srgbClr val="29C3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29C3D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9C3DF"/>
                </a:solidFill>
                <a:latin typeface="Arial"/>
                <a:ea typeface="Arial"/>
                <a:cs typeface="Arial"/>
              </a:rPr>
              <a:t>RESEARCH PROJECT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CD55D6B-3020-4277-8943-97ACB5FF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8974"/>
          </a:bodyPr>
          <a:lstStyle xmlns:a="http://schemas.openxmlformats.org/drawingml/2006/main">
            <a:defPPr algn="l">
              <a:defRPr sz="3600" b="1" i="0">
                <a:solidFill>
                  <a:srgbClr val="F7F4E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92000"/>
              </a:lnSpc>
              <a:buNone/>
              <a:defRPr sz="3600" b="1" i="0">
                <a:solidFill>
                  <a:srgbClr val="F7F4EC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7F4EC"/>
                </a:solidFill>
                <a:latin typeface="Arial"/>
                <a:ea typeface="Arial"/>
                <a:cs typeface="Arial"/>
              </a:rPr>
              <a:t>Sinhala-script language identification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FAE573A-D532-4DF2-AEF2-DF688CB6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A9BA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A9BAC7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A9BAC7"/>
                </a:solidFill>
                <a:latin typeface="Arial"/>
                <a:ea typeface="Arial"/>
                <a:cs typeface="Arial"/>
              </a:rPr>
              <a:t>Distinguishing Sinhala, Pali and Sanskrit written in the same script</a:t>
            </a:r>
          </a:p>
        </p:txBody>
      </p:sp>
      <p:sp>
        <p:nvSpPr>
          <p:cNvPr id="4" name="purpose">
            <a:extLst xmlns:a="http://schemas.openxmlformats.org/drawingml/2006/main">
              <a:ext uri="{FF2B5EF4-FFF2-40B4-BE49-F238E27FC236}">
                <a16:creationId xmlns:a16="http://schemas.microsoft.com/office/drawing/2014/main" id="{4CE38D4F-F7EF-4E7E-A41D-2ACB07EA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09600"/>
            <a:ext cx="2990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PURPOSE</a:t>
            </a:r>
          </a:p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9BAC7"/>
                </a:solidFill>
                <a:latin typeface="Arial"/>
                <a:ea typeface="Arial"/>
                <a:cs typeface="Arial"/>
              </a:rPr>
              <a:t>Reliable routing for multilingual NLP, OCR and digital-text collections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5D24D901-369E-4521-ACA9-D032053A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ivider-left">
            <a:extLst xmlns:a="http://schemas.openxmlformats.org/drawingml/2006/main">
              <a:ext uri="{FF2B5EF4-FFF2-40B4-BE49-F238E27FC236}">
                <a16:creationId xmlns:a16="http://schemas.microsoft.com/office/drawing/2014/main" id="{E66994D0-A7FB-4CBA-AE17-32C437F0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81200"/>
            <a:ext cx="19050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ivider-right">
            <a:extLst xmlns:a="http://schemas.openxmlformats.org/drawingml/2006/main">
              <a:ext uri="{FF2B5EF4-FFF2-40B4-BE49-F238E27FC236}">
                <a16:creationId xmlns:a16="http://schemas.microsoft.com/office/drawing/2014/main" id="{45F5BC4C-86F8-40F0-9CF9-F5EC236A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81200"/>
            <a:ext cx="19050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blem-label">
            <a:extLst xmlns:a="http://schemas.openxmlformats.org/drawingml/2006/main">
              <a:ext uri="{FF2B5EF4-FFF2-40B4-BE49-F238E27FC236}">
                <a16:creationId xmlns:a16="http://schemas.microsoft.com/office/drawing/2014/main" id="{6660FCF2-6F65-44C2-880B-9796F319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 i="0">
                <a:solidFill>
                  <a:srgbClr val="FF6E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FF6E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6E70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9" name="approach-label">
            <a:extLst xmlns:a="http://schemas.openxmlformats.org/drawingml/2006/main">
              <a:ext uri="{FF2B5EF4-FFF2-40B4-BE49-F238E27FC236}">
                <a16:creationId xmlns:a16="http://schemas.microsoft.com/office/drawing/2014/main" id="{BE5E3AED-E50E-41EB-B302-AE5A1364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00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 i="0">
                <a:solidFill>
                  <a:srgbClr val="A184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A184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184FF"/>
                </a:solidFill>
                <a:latin typeface="Arial"/>
                <a:ea typeface="Arial"/>
                <a:cs typeface="Arial"/>
              </a:rPr>
              <a:t>CLASSIFICATION APPROACH</a:t>
            </a:r>
          </a:p>
        </p:txBody>
      </p:sp>
      <p:sp>
        <p:nvSpPr>
          <p:cNvPr id="10" name="outcome-label">
            <a:extLst xmlns:a="http://schemas.openxmlformats.org/drawingml/2006/main">
              <a:ext uri="{FF2B5EF4-FFF2-40B4-BE49-F238E27FC236}">
                <a16:creationId xmlns:a16="http://schemas.microsoft.com/office/drawing/2014/main" id="{09E08E98-3F3A-40DC-984E-0111B1F0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002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 i="0">
                <a:solidFill>
                  <a:srgbClr val="5BDAA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5BDAA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DAA3"/>
                </a:solidFill>
                <a:latin typeface="Arial"/>
                <a:ea typeface="Arial"/>
                <a:cs typeface="Arial"/>
              </a:rPr>
              <a:t>KEY OUTCOME</a:t>
            </a:r>
          </a:p>
        </p:txBody>
      </p:sp>
      <p:sp>
        <p:nvSpPr>
          <p:cNvPr id="11" name="problem-heading">
            <a:extLst xmlns:a="http://schemas.openxmlformats.org/drawingml/2006/main">
              <a:ext uri="{FF2B5EF4-FFF2-40B4-BE49-F238E27FC236}">
                <a16:creationId xmlns:a16="http://schemas.microsoft.com/office/drawing/2014/main" id="{CFC1F21B-D224-4EE7-AD6C-5757B7B1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2438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 i="0">
                <a:solidFill>
                  <a:srgbClr val="F7F4E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94000"/>
              </a:lnSpc>
              <a:buNone/>
              <a:defRPr sz="2325" b="1" i="0">
                <a:solidFill>
                  <a:srgbClr val="F7F4EC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7F4EC"/>
                </a:solidFill>
                <a:latin typeface="Arial"/>
                <a:ea typeface="Arial"/>
                <a:cs typeface="Arial"/>
              </a:rPr>
              <a:t>One script,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2325" b="1" i="0">
                <a:solidFill>
                  <a:srgbClr val="F7F4EC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7F4EC"/>
                </a:solidFill>
                <a:latin typeface="Arial"/>
                <a:ea typeface="Arial"/>
                <a:cs typeface="Arial"/>
              </a:rPr>
              <a:t>three languages</a:t>
            </a:r>
          </a:p>
        </p:txBody>
      </p:sp>
      <p:sp>
        <p:nvSpPr>
          <p:cNvPr id="12" name="problem-body">
            <a:extLst xmlns:a="http://schemas.openxmlformats.org/drawingml/2006/main">
              <a:ext uri="{FF2B5EF4-FFF2-40B4-BE49-F238E27FC236}">
                <a16:creationId xmlns:a16="http://schemas.microsoft.com/office/drawing/2014/main" id="{E3B79BDC-4B6C-4B5C-BF16-131A3060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76600"/>
            <a:ext cx="2400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244"/>
          </a:bodyPr>
          <a:lstStyle xmlns:a="http://schemas.openxmlformats.org/drawingml/2006/main">
            <a:defPPr algn="l">
              <a:defRPr sz="1350" b="0" i="0">
                <a:solidFill>
                  <a:srgbClr val="A9BA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A9BAC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AC7"/>
                </a:solidFill>
                <a:latin typeface="Arial"/>
                <a:ea typeface="Arial"/>
                <a:cs typeface="Arial"/>
              </a:rPr>
              <a:t>Script detection alone cannot separate the three closely related languages.</a:t>
            </a:r>
          </a:p>
        </p:txBody>
      </p:sp>
      <p:sp>
        <p:nvSpPr>
          <p:cNvPr id="13" name="zero-metric">
            <a:extLst xmlns:a="http://schemas.openxmlformats.org/drawingml/2006/main">
              <a:ext uri="{FF2B5EF4-FFF2-40B4-BE49-F238E27FC236}">
                <a16:creationId xmlns:a16="http://schemas.microsoft.com/office/drawing/2014/main" id="{214EABB0-5EA8-4C7D-95DA-95818C3B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0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350" b="1" i="0">
                <a:solidFill>
                  <a:srgbClr val="FF6E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350" b="1" i="0">
                <a:solidFill>
                  <a:srgbClr val="FF6E70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FF6E70"/>
                </a:solidFill>
                <a:latin typeface="Arial"/>
                <a:ea typeface="Arial"/>
                <a:cs typeface="Arial"/>
              </a:rPr>
              <a:t>0.00%</a:t>
            </a:r>
          </a:p>
        </p:txBody>
      </p:sp>
      <p:sp>
        <p:nvSpPr>
          <p:cNvPr id="14" name="zero-caption">
            <a:extLst xmlns:a="http://schemas.openxmlformats.org/drawingml/2006/main">
              <a:ext uri="{FF2B5EF4-FFF2-40B4-BE49-F238E27FC236}">
                <a16:creationId xmlns:a16="http://schemas.microsoft.com/office/drawing/2014/main" id="{99BA315A-1DFD-4070-A6BD-61BFD3EF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F7F4E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200" b="0" i="0">
                <a:solidFill>
                  <a:srgbClr val="F7F4E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F7F4EC"/>
                </a:solidFill>
                <a:latin typeface="Arial"/>
                <a:ea typeface="Arial"/>
                <a:cs typeface="Arial"/>
              </a:rPr>
              <a:t>zero-shot F1 for Sinhala-script Pali and Sanskrit in stock foundation models</a:t>
            </a:r>
          </a:p>
        </p:txBody>
      </p:sp>
      <p:sp>
        <p:nvSpPr>
          <p:cNvPr id="15" name="problem-note">
            <a:extLst xmlns:a="http://schemas.openxmlformats.org/drawingml/2006/main">
              <a:ext uri="{FF2B5EF4-FFF2-40B4-BE49-F238E27FC236}">
                <a16:creationId xmlns:a16="http://schemas.microsoft.com/office/drawing/2014/main" id="{E98BD3ED-6CEF-42CD-B83E-7BD985C3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 i="1">
                <a:solidFill>
                  <a:srgbClr val="A9BA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 i="1">
                <a:solidFill>
                  <a:srgbClr val="A9BAC7"/>
                </a:solidFill>
                <a:latin typeface="Arial"/>
                <a:ea typeface="Arial"/>
                <a:cs typeface="Arial"/>
              </a:defRPr>
            </a:pPr>
            <a:r>
              <a:rPr sz="1050" b="0" i="1">
                <a:solidFill>
                  <a:srgbClr val="A9BAC7"/>
                </a:solidFill>
                <a:latin typeface="Arial"/>
                <a:ea typeface="Arial"/>
                <a:cs typeface="Arial"/>
              </a:rPr>
              <a:t>Existing label heads funnel both classes into Sinhala.</a:t>
            </a:r>
          </a:p>
        </p:txBody>
      </p:sp>
      <p:sp>
        <p:nvSpPr>
          <p:cNvPr id="16" name="corpus-stage">
            <a:extLst xmlns:a="http://schemas.openxmlformats.org/drawingml/2006/main">
              <a:ext uri="{FF2B5EF4-FFF2-40B4-BE49-F238E27FC236}">
                <a16:creationId xmlns:a16="http://schemas.microsoft.com/office/drawing/2014/main" id="{D75DC9BF-8646-442F-A2CA-A87F91E1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400300"/>
            <a:ext cx="2381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32C40"/>
          </a:solidFill>
          <a:ln xmlns:a="http://schemas.openxmlformats.org/drawingml/2006/main" w="19050">
            <a:solidFill>
              <a:srgbClr val="29C3DF"/>
            </a:solidFill>
            <a:prstDash val="solid"/>
          </a:ln>
        </p:spPr>
      </p:sp>
      <p:sp>
        <p:nvSpPr>
          <p:cNvPr id="17" name="corpus-stage-title">
            <a:extLst xmlns:a="http://schemas.openxmlformats.org/drawingml/2006/main">
              <a:ext uri="{FF2B5EF4-FFF2-40B4-BE49-F238E27FC236}">
                <a16:creationId xmlns:a16="http://schemas.microsoft.com/office/drawing/2014/main" id="{2AA8F1BD-F0C5-410F-9971-867D8D79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717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 i="0">
                <a:solidFill>
                  <a:srgbClr val="29C3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29C3D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9C3DF"/>
                </a:solidFill>
                <a:latin typeface="Arial"/>
                <a:ea typeface="Arial"/>
                <a:cs typeface="Arial"/>
              </a:rPr>
              <a:t>Curated corpus</a:t>
            </a:r>
          </a:p>
        </p:txBody>
      </p:sp>
      <p:sp>
        <p:nvSpPr>
          <p:cNvPr id="18" name="corpus-stage-body">
            <a:extLst xmlns:a="http://schemas.openxmlformats.org/drawingml/2006/main">
              <a:ext uri="{FF2B5EF4-FFF2-40B4-BE49-F238E27FC236}">
                <a16:creationId xmlns:a16="http://schemas.microsoft.com/office/drawing/2014/main" id="{8DA0DD12-6A49-4128-8FEF-69192BF2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52750"/>
            <a:ext cx="203835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288"/>
          </a:bodyPr>
          <a:lstStyle xmlns:a="http://schemas.openxmlformats.org/drawingml/2006/main">
            <a:defPPr algn="ctr">
              <a:defRPr sz="1125" b="0" i="0">
                <a:solidFill>
                  <a:srgbClr val="A9BA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A9BAC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9BAC7"/>
                </a:solidFill>
                <a:latin typeface="Arial"/>
                <a:ea typeface="Arial"/>
                <a:cs typeface="Arial"/>
              </a:rPr>
              <a:t>67,332 paper-benchmark sentences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A9BAC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9BAC7"/>
                </a:solidFill>
                <a:latin typeface="Arial"/>
                <a:ea typeface="Arial"/>
                <a:cs typeface="Arial"/>
              </a:rPr>
              <a:t>Group-stratified train and test splits</a:t>
            </a:r>
          </a:p>
        </p:txBody>
      </p:sp>
      <p:sp>
        <p:nvSpPr>
          <p:cNvPr id="19" name="closed-world-stage">
            <a:extLst xmlns:a="http://schemas.openxmlformats.org/drawingml/2006/main">
              <a:ext uri="{FF2B5EF4-FFF2-40B4-BE49-F238E27FC236}">
                <a16:creationId xmlns:a16="http://schemas.microsoft.com/office/drawing/2014/main" id="{1343DDEF-DC79-4F51-8481-12AB98E0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19500"/>
            <a:ext cx="23241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102537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20" name="closed-world-stage-title">
            <a:extLst xmlns:a="http://schemas.openxmlformats.org/drawingml/2006/main">
              <a:ext uri="{FF2B5EF4-FFF2-40B4-BE49-F238E27FC236}">
                <a16:creationId xmlns:a16="http://schemas.microsoft.com/office/drawing/2014/main" id="{E6EACFA7-6E46-4668-A993-EB4E4F18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90950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234"/>
          </a:bodyPr>
          <a:lstStyle xmlns:a="http://schemas.openxmlformats.org/drawingml/2006/main">
            <a:defPPr algn="ctr">
              <a:defRPr sz="142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Closed-world benchmark</a:t>
            </a:r>
          </a:p>
        </p:txBody>
      </p:sp>
      <p:sp>
        <p:nvSpPr>
          <p:cNvPr id="21" name="closed-world-stage-body">
            <a:extLst xmlns:a="http://schemas.openxmlformats.org/drawingml/2006/main">
              <a:ext uri="{FF2B5EF4-FFF2-40B4-BE49-F238E27FC236}">
                <a16:creationId xmlns:a16="http://schemas.microsoft.com/office/drawing/2014/main" id="{BE1F3FAF-0C01-41A0-8518-8E84A008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71950"/>
            <a:ext cx="198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317"/>
          </a:bodyPr>
          <a:lstStyle xmlns:a="http://schemas.openxmlformats.org/drawingml/2006/main">
            <a:defPPr algn="ctr">
              <a:defRPr sz="1125" b="0" i="0">
                <a:solidFill>
                  <a:srgbClr val="A9BA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A9BAC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9BAC7"/>
                </a:solidFill>
                <a:latin typeface="Arial"/>
                <a:ea typeface="Arial"/>
                <a:cs typeface="Arial"/>
              </a:rPr>
              <a:t>7 models trained from scratch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A9BAC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9BAC7"/>
                </a:solidFill>
                <a:latin typeface="Arial"/>
                <a:ea typeface="Arial"/>
                <a:cs typeface="Arial"/>
              </a:rPr>
              <a:t>Full sentence to one-word stress tests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A9BAC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9BAC7"/>
                </a:solidFill>
                <a:latin typeface="Arial"/>
                <a:ea typeface="Arial"/>
                <a:cs typeface="Arial"/>
              </a:rPr>
              <a:t>Character n-grams and subword features</a:t>
            </a:r>
          </a:p>
        </p:txBody>
      </p:sp>
      <p:sp>
        <p:nvSpPr>
          <p:cNvPr id="22" name="open-world-stage">
            <a:extLst xmlns:a="http://schemas.openxmlformats.org/drawingml/2006/main">
              <a:ext uri="{FF2B5EF4-FFF2-40B4-BE49-F238E27FC236}">
                <a16:creationId xmlns:a16="http://schemas.microsoft.com/office/drawing/2014/main" id="{2DCDEFE4-4A23-46AB-BB7C-F04229B1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19500"/>
            <a:ext cx="23241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102537"/>
          </a:solidFill>
          <a:ln xmlns:a="http://schemas.openxmlformats.org/drawingml/2006/main" w="19050">
            <a:solidFill>
              <a:srgbClr val="A184FF"/>
            </a:solidFill>
            <a:prstDash val="solid"/>
          </a:ln>
        </p:spPr>
      </p:sp>
      <p:sp>
        <p:nvSpPr>
          <p:cNvPr id="23" name="open-world-stage-title">
            <a:extLst xmlns:a="http://schemas.openxmlformats.org/drawingml/2006/main">
              <a:ext uri="{FF2B5EF4-FFF2-40B4-BE49-F238E27FC236}">
                <a16:creationId xmlns:a16="http://schemas.microsoft.com/office/drawing/2014/main" id="{5207E2BC-55CD-45D7-83B2-253DECC3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90950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334"/>
          </a:bodyPr>
          <a:lstStyle xmlns:a="http://schemas.openxmlformats.org/drawingml/2006/main">
            <a:defPPr algn="ctr">
              <a:defRPr sz="1425" b="1" i="0">
                <a:solidFill>
                  <a:srgbClr val="A184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A184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A184FF"/>
                </a:solidFill>
                <a:latin typeface="Arial"/>
                <a:ea typeface="Arial"/>
                <a:cs typeface="Arial"/>
              </a:rPr>
              <a:t>Open-world benchmark</a:t>
            </a:r>
          </a:p>
        </p:txBody>
      </p:sp>
      <p:sp>
        <p:nvSpPr>
          <p:cNvPr id="24" name="open-world-stage-body">
            <a:extLst xmlns:a="http://schemas.openxmlformats.org/drawingml/2006/main">
              <a:ext uri="{FF2B5EF4-FFF2-40B4-BE49-F238E27FC236}">
                <a16:creationId xmlns:a16="http://schemas.microsoft.com/office/drawing/2014/main" id="{8A63BD60-2F10-4F55-9E0E-C1FDD864D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71950"/>
            <a:ext cx="198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930"/>
          </a:bodyPr>
          <a:lstStyle xmlns:a="http://schemas.openxmlformats.org/drawingml/2006/main">
            <a:defPPr algn="ctr">
              <a:defRPr sz="1125" b="0" i="0">
                <a:solidFill>
                  <a:srgbClr val="A9BA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A9BAC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9BAC7"/>
                </a:solidFill>
                <a:latin typeface="Arial"/>
                <a:ea typeface="Arial"/>
                <a:cs typeface="Arial"/>
              </a:rPr>
              <a:t>6 foundation-model families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A9BAC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9BAC7"/>
                </a:solidFill>
                <a:latin typeface="Arial"/>
                <a:ea typeface="Arial"/>
                <a:cs typeface="Arial"/>
              </a:rPr>
              <a:t>11 languages across three hybrids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A9BAC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9BAC7"/>
                </a:solidFill>
                <a:latin typeface="Arial"/>
                <a:ea typeface="Arial"/>
                <a:cs typeface="Arial"/>
              </a:rPr>
              <a:t>Routing, LoRA and head extension</a:t>
            </a:r>
          </a:p>
        </p:txBody>
      </p:sp>
      <p:sp>
        <p:nvSpPr>
          <p:cNvPr id="25" name="language-output">
            <a:extLst xmlns:a="http://schemas.openxmlformats.org/drawingml/2006/main">
              <a:ext uri="{FF2B5EF4-FFF2-40B4-BE49-F238E27FC236}">
                <a16:creationId xmlns:a16="http://schemas.microsoft.com/office/drawing/2014/main" id="{0B19CBF0-4CC6-45CA-AB85-748E3E00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286375"/>
            <a:ext cx="3276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E2630"/>
          </a:solidFill>
          <a:ln xmlns:a="http://schemas.openxmlformats.org/drawingml/2006/main" w="19050">
            <a:solidFill>
              <a:srgbClr val="5BDAA3"/>
            </a:solidFill>
            <a:prstDash val="solid"/>
          </a:ln>
        </p:spPr>
      </p:sp>
      <p:sp>
        <p:nvSpPr>
          <p:cNvPr id="26" name="language-output-text">
            <a:extLst xmlns:a="http://schemas.openxmlformats.org/drawingml/2006/main">
              <a:ext uri="{FF2B5EF4-FFF2-40B4-BE49-F238E27FC236}">
                <a16:creationId xmlns:a16="http://schemas.microsoft.com/office/drawing/2014/main" id="{E82FF5DD-D98F-423E-8CC2-A31CF8D7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410200"/>
            <a:ext cx="300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 i="0">
                <a:solidFill>
                  <a:srgbClr val="5BDAA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5BDAA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BDAA3"/>
                </a:solidFill>
                <a:latin typeface="Arial"/>
                <a:ea typeface="Arial"/>
                <a:cs typeface="Arial"/>
              </a:rPr>
              <a:t>SINHALA        PALI        SANSKRIT</a:t>
            </a:r>
          </a:p>
        </p:txBody>
      </p:sp>
      <p:sp>
        <p:nvSpPr>
          <p:cNvPr id="31" name="metric-one">
            <a:extLst xmlns:a="http://schemas.openxmlformats.org/drawingml/2006/main">
              <a:ext uri="{FF2B5EF4-FFF2-40B4-BE49-F238E27FC236}">
                <a16:creationId xmlns:a16="http://schemas.microsoft.com/office/drawing/2014/main" id="{7C2EF494-C425-45DF-83CA-CF53DF24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0030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 i="0">
                <a:solidFill>
                  <a:srgbClr val="5BDAA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50" b="1" i="0">
                <a:solidFill>
                  <a:srgbClr val="5BDAA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5BDAA3"/>
                </a:solidFill>
                <a:latin typeface="Arial"/>
                <a:ea typeface="Arial"/>
                <a:cs typeface="Arial"/>
              </a:rPr>
              <a:t>0.9985</a:t>
            </a:r>
          </a:p>
        </p:txBody>
      </p:sp>
      <p:sp>
        <p:nvSpPr>
          <p:cNvPr id="32" name="metric-one-caption">
            <a:extLst xmlns:a="http://schemas.openxmlformats.org/drawingml/2006/main">
              <a:ext uri="{FF2B5EF4-FFF2-40B4-BE49-F238E27FC236}">
                <a16:creationId xmlns:a16="http://schemas.microsoft.com/office/drawing/2014/main" id="{09D16231-C332-453C-A754-1B29E739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146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 i="0">
                <a:solidFill>
                  <a:srgbClr val="A9BA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125" b="0" i="0">
                <a:solidFill>
                  <a:srgbClr val="A9BAC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9BAC7"/>
                </a:solidFill>
                <a:latin typeface="Arial"/>
                <a:ea typeface="Arial"/>
                <a:cs typeface="Arial"/>
              </a:rPr>
              <a:t>Macro-F1, full sentences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25" b="0" i="0">
                <a:solidFill>
                  <a:srgbClr val="A9BAC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9BAC7"/>
                </a:solidFill>
                <a:latin typeface="Arial"/>
                <a:ea typeface="Arial"/>
                <a:cs typeface="Arial"/>
              </a:rPr>
              <a:t>Multinomial Naive Bayes</a:t>
            </a:r>
          </a:p>
        </p:txBody>
      </p:sp>
      <p:sp>
        <p:nvSpPr>
          <p:cNvPr id="33" name="metric-rule-one">
            <a:extLst xmlns:a="http://schemas.openxmlformats.org/drawingml/2006/main">
              <a:ext uri="{FF2B5EF4-FFF2-40B4-BE49-F238E27FC236}">
                <a16:creationId xmlns:a16="http://schemas.microsoft.com/office/drawing/2014/main" id="{74D1F7ED-51BB-44C6-96D9-9F9B675D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486150"/>
            <a:ext cx="2266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metric-two">
            <a:extLst xmlns:a="http://schemas.openxmlformats.org/drawingml/2006/main">
              <a:ext uri="{FF2B5EF4-FFF2-40B4-BE49-F238E27FC236}">
                <a16:creationId xmlns:a16="http://schemas.microsoft.com/office/drawing/2014/main" id="{8049F835-9084-4039-A3FB-5D1AEC79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385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0.8584</a:t>
            </a:r>
          </a:p>
        </p:txBody>
      </p:sp>
      <p:sp>
        <p:nvSpPr>
          <p:cNvPr id="35" name="metric-two-caption">
            <a:extLst xmlns:a="http://schemas.openxmlformats.org/drawingml/2006/main">
              <a:ext uri="{FF2B5EF4-FFF2-40B4-BE49-F238E27FC236}">
                <a16:creationId xmlns:a16="http://schemas.microsoft.com/office/drawing/2014/main" id="{9E3BAF91-EA2A-46E9-9FAA-FB0B686D1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1529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 i="0">
                <a:solidFill>
                  <a:srgbClr val="A9BA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125" b="0" i="0">
                <a:solidFill>
                  <a:srgbClr val="A9BAC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9BAC7"/>
                </a:solidFill>
                <a:latin typeface="Arial"/>
                <a:ea typeface="Arial"/>
                <a:cs typeface="Arial"/>
              </a:rPr>
              <a:t>Macro-F1, one-word fragments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25" b="0" i="0">
                <a:solidFill>
                  <a:srgbClr val="A9BAC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9BAC7"/>
                </a:solidFill>
                <a:latin typeface="Arial"/>
                <a:ea typeface="Arial"/>
                <a:cs typeface="Arial"/>
              </a:rPr>
              <a:t>Multinomial Naive Bayes</a:t>
            </a:r>
          </a:p>
        </p:txBody>
      </p:sp>
      <p:sp>
        <p:nvSpPr>
          <p:cNvPr id="36" name="metric-rule-two">
            <a:extLst xmlns:a="http://schemas.openxmlformats.org/drawingml/2006/main">
              <a:ext uri="{FF2B5EF4-FFF2-40B4-BE49-F238E27FC236}">
                <a16:creationId xmlns:a16="http://schemas.microsoft.com/office/drawing/2014/main" id="{506AC8BF-602F-4D0B-80A8-6E94A235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724400"/>
            <a:ext cx="2266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metric-three">
            <a:extLst xmlns:a="http://schemas.openxmlformats.org/drawingml/2006/main">
              <a:ext uri="{FF2B5EF4-FFF2-40B4-BE49-F238E27FC236}">
                <a16:creationId xmlns:a16="http://schemas.microsoft.com/office/drawing/2014/main" id="{67AC175A-A147-4D62-AFA6-5414FCA6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87680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925" b="1" i="0">
                <a:solidFill>
                  <a:srgbClr val="A184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25" b="1" i="0">
                <a:solidFill>
                  <a:srgbClr val="A184FF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A184FF"/>
                </a:solidFill>
                <a:latin typeface="Arial"/>
                <a:ea typeface="Arial"/>
                <a:cs typeface="Arial"/>
              </a:rPr>
              <a:t>0.92–0.97</a:t>
            </a:r>
          </a:p>
        </p:txBody>
      </p:sp>
      <p:sp>
        <p:nvSpPr>
          <p:cNvPr id="38" name="metric-three-caption">
            <a:extLst xmlns:a="http://schemas.openxmlformats.org/drawingml/2006/main">
              <a:ext uri="{FF2B5EF4-FFF2-40B4-BE49-F238E27FC236}">
                <a16:creationId xmlns:a16="http://schemas.microsoft.com/office/drawing/2014/main" id="{565D5430-7E43-47C8-816C-11433B52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410200"/>
            <a:ext cx="230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>
            <a:defPPr algn="l">
              <a:defRPr sz="1125" b="0" i="0">
                <a:solidFill>
                  <a:srgbClr val="A9BA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125" b="0" i="0">
                <a:solidFill>
                  <a:srgbClr val="A9BAC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9BAC7"/>
                </a:solidFill>
                <a:latin typeface="Arial"/>
                <a:ea typeface="Arial"/>
                <a:cs typeface="Arial"/>
              </a:rPr>
              <a:t>Macro-F1 range reported for targeted adaptation across 11-language hybrid benchmarks</a:t>
            </a:r>
          </a:p>
        </p:txBody>
      </p:sp>
      <p:sp>
        <p:nvSpPr>
          <p:cNvPr id="3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EDFD2A2-F780-4564-BCB6-B2954045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150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technology-footer">
            <a:extLst xmlns:a="http://schemas.openxmlformats.org/drawingml/2006/main">
              <a:ext uri="{FF2B5EF4-FFF2-40B4-BE49-F238E27FC236}">
                <a16:creationId xmlns:a16="http://schemas.microsoft.com/office/drawing/2014/main" id="{71A023FE-B926-4453-8716-3B364181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2935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 i="0">
                <a:solidFill>
                  <a:srgbClr val="A9BA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A9BAC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9C3DF"/>
                </a:solidFill>
                <a:latin typeface="Arial"/>
                <a:ea typeface="Arial"/>
                <a:cs typeface="Arial"/>
              </a:rPr>
              <a:t>TECHNOLOGIES</a:t>
            </a:r>
            <a:r>
              <a:rPr sz="975" b="0" i="0">
                <a:solidFill>
                  <a:srgbClr val="A9BAC7"/>
                </a:solidFill>
                <a:latin typeface="Arial"/>
                <a:ea typeface="Arial"/>
                <a:cs typeface="Arial"/>
              </a:rPr>
              <a:t>  Python, scikit-learn, PyTorch, Transformers, fastText and Hugging Face</a:t>
            </a:r>
          </a:p>
        </p:txBody>
      </p:sp>
      <p:sp>
        <p:nvSpPr>
          <p:cNvPr id="41" name="evaluation-footer">
            <a:extLst xmlns:a="http://schemas.openxmlformats.org/drawingml/2006/main">
              <a:ext uri="{FF2B5EF4-FFF2-40B4-BE49-F238E27FC236}">
                <a16:creationId xmlns:a16="http://schemas.microsoft.com/office/drawing/2014/main" id="{E541B823-E6E7-45F2-B8A1-4FC0416F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6229350"/>
            <a:ext cx="453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 i="0">
                <a:solidFill>
                  <a:srgbClr val="A9BA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75" b="0" i="0">
                <a:solidFill>
                  <a:srgbClr val="A9BAC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184FF"/>
                </a:solidFill>
                <a:latin typeface="Arial"/>
                <a:ea typeface="Arial"/>
                <a:cs typeface="Arial"/>
              </a:rPr>
              <a:t>EVALUATION</a:t>
            </a:r>
            <a:r>
              <a:rPr sz="975" b="0" i="0">
                <a:solidFill>
                  <a:srgbClr val="A9BAC7"/>
                </a:solidFill>
                <a:latin typeface="Arial"/>
                <a:ea typeface="Arial"/>
                <a:cs typeface="Arial"/>
              </a:rPr>
              <a:t>  FLORES+, CommonLID and WiLI-2018 hybrid benchmarks</a:t>
            </a:r>
          </a:p>
        </p:txBody>
      </p:sp>
    </p:spTree>
    <p:extLst>
      <p:ext uri="{BB962C8B-B14F-4D97-AF65-F5344CB8AC3E}">
        <p14:creationId xmlns:p14="http://schemas.microsoft.com/office/powerpoint/2010/main" val="12461200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2026-10-08T04:07:33.9520000Z</dcterms:created>
  <dcterms:modified xsi:type="dcterms:W3CDTF">2026-10-08T04:07:33.9520000Z</dcterms:modified>
</coreProperties>
</file>