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a3dfca232d4971" /><Relationship Type="http://schemas.openxmlformats.org/officeDocument/2006/relationships/extended-properties" Target="/docProps/app.xml" Id="Raeb2accb67d646a7" /><Relationship Type="http://schemas.openxmlformats.org/officeDocument/2006/relationships/officeDocument" Target="/ppt/presentation.xml" Id="R9918d86547c844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2fad9ad9044b62"/>
  </p:sldMasterIdLst>
  <p:notesMasterIdLst>
    <p:notesMasterId xmlns:r="http://schemas.openxmlformats.org/officeDocument/2006/relationships" r:id="R31e94aa17b004cdd"/>
  </p:notesMasterIdLst>
  <p:sldIdLst>
    <p:sldId xmlns:r="http://schemas.openxmlformats.org/officeDocument/2006/relationships" id="256" r:id="Rb13c3e1d5cc042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18ec4a74794fbf" /><Relationship Type="http://schemas.openxmlformats.org/officeDocument/2006/relationships/slideMaster" Target="/ppt/slideMasters/slideMaster1.xml" Id="Re52fad9ad9044b62" /><Relationship Type="http://schemas.openxmlformats.org/officeDocument/2006/relationships/notesMaster" Target="/ppt/notesMasters/notesMaster1.xml" Id="R31e94aa17b004cdd" /><Relationship Type="http://schemas.openxmlformats.org/officeDocument/2006/relationships/presProps" Target="/ppt/presProps.xml" Id="R2ed92df8b0214e01" /><Relationship Type="http://schemas.openxmlformats.org/officeDocument/2006/relationships/tableStyles" Target="/ppt/tableStyles.xml" Id="R068e81901d034283" /><Relationship Type="http://schemas.openxmlformats.org/officeDocument/2006/relationships/slide" Target="/ppt/slides/slide1.xml" Id="Rb13c3e1d5cc042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bc85e0428f42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b162f2518e4989" /><Relationship Type="http://schemas.openxmlformats.org/officeDocument/2006/relationships/notesMaster" Target="/ppt/notesMasters/notesMaster1.xml" Id="Rcc3cbabf49434d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evidence used for this slide:</a:t>
            </a:r>
          </a:p>
          <a:p xmlns:a="http://schemas.openxmlformats.org/drawingml/2006/main">
            <a:r>
              <a:t>C:\Users\User\Desktop\Vscode\Sinhala-Script Language Identification (LangID) for Sinhala, Pali and Sanskrit\Sinhala-Script-Language-Identification-LangID-for-Sinhala-Pali-and-Sanskrit\ACL.tex — abstract, dataset construction, Phase 1 and Phase 2 results.</a:t>
            </a:r>
          </a:p>
          <a:p xmlns:a="http://schemas.openxmlformats.org/drawingml/2006/main">
            <a:r>
              <a:t>C:\Users\User\Desktop\Vscode\Sinhala-Script Language Identification (LangID) for Sinhala, Pali and Sanskrit\Sinhala-Script-Language-Identification-LangID-for-Sinhala-Pali-and-Sanskrit\README.md — project purpose, model families, technologies and repository scope.</a:t>
            </a:r>
          </a:p>
          <a:p xmlns:a="http://schemas.openxmlformats.org/drawingml/2006/main">
            <a:r>
              <a:t>C:\Users\User\Desktop\Vscode\Sinhala-Script Language Identification (LangID) for Sinhala, Pali and Sanskrit\Sinhala-Script-Language-Identification-LangID-for-Sinhala-Pali-and-Sanskrit\Comparison Tables - Final Corrected.csv — per-model benchmark results.</a:t>
            </a:r>
          </a:p>
          <a:p xmlns:a="http://schemas.openxmlformats.org/drawingml/2006/main">
            <a:r>
              <a:t>C:\Users\User\Desktop\Vscode\Sinhala-Script Language Identification (LangID) for Sinhala, Pali and Sanskrit\Sinhala-Script-Language-Identification-LangID-for-Sinhala-Pali-and-Sanskrit\requirements.txt — implementation technologies.</a:t>
            </a:r>
          </a:p>
          <a:p xmlns:a="http://schemas.openxmlformats.org/drawingml/2006/main">
            <a:r>
              <a:t>No personal names, index numbers, group numbers or team identifiers appear on the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3b876839474f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a7671c14a47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d685e3ff1409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059512bddd4d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45bc076aec48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b5216e17ba4f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7C4627-E2C8-40DD-8FEE-6193B5943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2598B3-3FAD-4085-9E98-80D5F55049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CE2942E-F395-4AEC-BAD9-1ADA6D5DBD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7C1233-BF0E-4DC1-B41D-C436BE038F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888892-5289-4F13-80DC-9EE7CA6D05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B76B6D-A7FA-4F86-B4C1-4F1017BC88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E01CFF-FD10-42AF-BCF3-C5D3D54C0F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CAA4930-39E9-4871-AE39-07C8C9F261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06E185-7C45-4EF1-908C-441C377AE1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1CDE7D-60FC-407A-959E-D7CD493542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5ffc216a644f07" /><Relationship Type="http://schemas.openxmlformats.org/officeDocument/2006/relationships/slideLayout" Target="/ppt/slideLayouts/slideLayout1.xml" Id="R752603f1a06b440f" /><Relationship Type="http://schemas.openxmlformats.org/officeDocument/2006/relationships/slideLayout" Target="/ppt/slideLayouts/slideLayout2.xml" Id="R6f683b0625e841e6" /><Relationship Type="http://schemas.openxmlformats.org/officeDocument/2006/relationships/slideLayout" Target="/ppt/slideLayouts/slideLayout3.xml" Id="Reecd129679de4b1a" /><Relationship Type="http://schemas.openxmlformats.org/officeDocument/2006/relationships/slideLayout" Target="/ppt/slideLayouts/slideLayout4.xml" Id="R2bb00bc1919f4476" /><Relationship Type="http://schemas.openxmlformats.org/officeDocument/2006/relationships/slideLayout" Target="/ppt/slideLayouts/slideLayout5.xml" Id="R53f1852e30434a4b" /><Relationship Type="http://schemas.openxmlformats.org/officeDocument/2006/relationships/slideLayout" Target="/ppt/slideLayouts/slideLayout6.xml" Id="R37785cc1751c49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2603f1a06b440f"/>
    <p:sldLayoutId xmlns:r="http://schemas.openxmlformats.org/officeDocument/2006/relationships" id="2147483650" r:id="R6f683b0625e841e6"/>
    <p:sldLayoutId xmlns:r="http://schemas.openxmlformats.org/officeDocument/2006/relationships" id="2147483651" r:id="Reecd129679de4b1a"/>
    <p:sldLayoutId xmlns:r="http://schemas.openxmlformats.org/officeDocument/2006/relationships" id="2147483652" r:id="R2bb00bc1919f4476"/>
    <p:sldLayoutId xmlns:r="http://schemas.openxmlformats.org/officeDocument/2006/relationships" id="2147483653" r:id="R53f1852e30434a4b"/>
    <p:sldLayoutId xmlns:r="http://schemas.openxmlformats.org/officeDocument/2006/relationships" id="2147483654" r:id="R37785cc1751c49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2c4a31992f46e8" /><Relationship Type="http://schemas.openxmlformats.org/officeDocument/2006/relationships/notesSlide" Target="/ppt/notesSlides/notesSlide1.xml" Id="Re680c706996e4a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909C56-5173-47A6-ADBB-905F511BFE15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6115050" y="4914900"/>
            <a:ext cx="1314450" cy="371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184FF"/>
            </a:solidFill>
            <a:prstDash val="solid"/>
            <a:tailEnd type="arrow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A83665-DF0C-4161-95FE-0FFC2F8A902D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4800600" y="4914900"/>
            <a:ext cx="1314450" cy="371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2B84B"/>
            </a:solidFill>
            <a:prstDash val="solid"/>
            <a:tailEnd type="arrow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A1C45D-616D-4FBB-A29C-F3C09583AD76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257925" y="3238500"/>
            <a:ext cx="1171575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37084"/>
            </a:solidFill>
            <a:prstDash val="solid"/>
            <a:tailEnd type="arrow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40504E-8064-4B0D-A0F2-88E18440BB54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4800600" y="3238500"/>
            <a:ext cx="1457325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37084"/>
            </a:solidFill>
            <a:prstDash val="solid"/>
            <a:tailEnd type="arrow" w="sm" len="sm"/>
          </a:ln>
        </p:spPr>
      </p:cxnSp>
      <p:sp>
        <p:nvSpPr>
          <p:cNvPr id="42" name="eyebrow">
            <a:extLst xmlns:a="http://schemas.openxmlformats.org/drawingml/2006/main">
              <a:ext uri="{FF2B5EF4-FFF2-40B4-BE49-F238E27FC236}">
                <a16:creationId xmlns:a16="http://schemas.microsoft.com/office/drawing/2014/main" id="{7968AFD1-41E7-436C-A96E-CDB0159D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29C3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9C3D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9C3DF"/>
                </a:solidFill>
                <a:latin typeface="Arial"/>
                <a:ea typeface="Arial"/>
                <a:cs typeface="Arial"/>
              </a:rPr>
              <a:t>RESEARCH PROJECT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8991333-19AD-40D6-BB5C-C13C1DF5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974"/>
          </a:bodyPr>
          <a:lstStyle xmlns:a="http://schemas.openxmlformats.org/drawingml/2006/main">
            <a:defPPr algn="l">
              <a:defRPr sz="3600" b="1" i="0">
                <a:solidFill>
                  <a:srgbClr val="F7F4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2000"/>
              </a:lnSpc>
              <a:buNone/>
              <a:defRPr sz="3600" b="1" i="0">
                <a:solidFill>
                  <a:srgbClr val="F7F4EC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7F4EC"/>
                </a:solidFill>
                <a:latin typeface="Arial"/>
                <a:ea typeface="Arial"/>
                <a:cs typeface="Arial"/>
              </a:rPr>
              <a:t>Sinhala-script language identification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DF52945-E8B9-455F-9873-86E1A307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Distinguishing Sinhala, Pali and Sanskrit written in the same script</a:t>
            </a:r>
          </a:p>
        </p:txBody>
      </p:sp>
      <p:sp>
        <p:nvSpPr>
          <p:cNvPr id="4" name="purpose">
            <a:extLst xmlns:a="http://schemas.openxmlformats.org/drawingml/2006/main">
              <a:ext uri="{FF2B5EF4-FFF2-40B4-BE49-F238E27FC236}">
                <a16:creationId xmlns:a16="http://schemas.microsoft.com/office/drawing/2014/main" id="{DA2C4BF9-D26E-4B5B-8E90-8480E9D0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09600"/>
            <a:ext cx="2990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PURPOSE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Reliable routing for multilingual NLP, OCR and digital-text collections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424367E-4724-46BF-A672-B91D7092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ivider-left">
            <a:extLst xmlns:a="http://schemas.openxmlformats.org/drawingml/2006/main">
              <a:ext uri="{FF2B5EF4-FFF2-40B4-BE49-F238E27FC236}">
                <a16:creationId xmlns:a16="http://schemas.microsoft.com/office/drawing/2014/main" id="{32459D38-66D7-44EF-951B-0FB97B24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81200"/>
            <a:ext cx="190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ivider-right">
            <a:extLst xmlns:a="http://schemas.openxmlformats.org/drawingml/2006/main">
              <a:ext uri="{FF2B5EF4-FFF2-40B4-BE49-F238E27FC236}">
                <a16:creationId xmlns:a16="http://schemas.microsoft.com/office/drawing/2014/main" id="{6FB62E84-7FF8-4C7F-AB32-9EA87882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81200"/>
            <a:ext cx="190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5E5CA704-4668-49E0-BF21-D64E3949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FF6E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6E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6E70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9" name="approach-label">
            <a:extLst xmlns:a="http://schemas.openxmlformats.org/drawingml/2006/main">
              <a:ext uri="{FF2B5EF4-FFF2-40B4-BE49-F238E27FC236}">
                <a16:creationId xmlns:a16="http://schemas.microsoft.com/office/drawing/2014/main" id="{5BE9219B-7416-40AF-B9D1-CED73BB4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A18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A184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184FF"/>
                </a:solidFill>
                <a:latin typeface="Arial"/>
                <a:ea typeface="Arial"/>
                <a:cs typeface="Arial"/>
              </a:rPr>
              <a:t>CLASSIFICATION APPROACH</a:t>
            </a:r>
          </a:p>
        </p:txBody>
      </p:sp>
      <p:sp>
        <p:nvSpPr>
          <p:cNvPr id="10" name="outcome-label">
            <a:extLst xmlns:a="http://schemas.openxmlformats.org/drawingml/2006/main">
              <a:ext uri="{FF2B5EF4-FFF2-40B4-BE49-F238E27FC236}">
                <a16:creationId xmlns:a16="http://schemas.microsoft.com/office/drawing/2014/main" id="{7CA51BC6-165C-473E-8A08-FFF69A20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5BDA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5BDAA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DAA3"/>
                </a:solidFill>
                <a:latin typeface="Arial"/>
                <a:ea typeface="Arial"/>
                <a:cs typeface="Arial"/>
              </a:rPr>
              <a:t>KEY OUTCOME</a:t>
            </a:r>
          </a:p>
        </p:txBody>
      </p:sp>
      <p:sp>
        <p:nvSpPr>
          <p:cNvPr id="11" name="problem-heading">
            <a:extLst xmlns:a="http://schemas.openxmlformats.org/drawingml/2006/main">
              <a:ext uri="{FF2B5EF4-FFF2-40B4-BE49-F238E27FC236}">
                <a16:creationId xmlns:a16="http://schemas.microsoft.com/office/drawing/2014/main" id="{42763987-651F-4B7A-91BB-E724BB18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243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 i="0">
                <a:solidFill>
                  <a:srgbClr val="F7F4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2325" b="1" i="0">
                <a:solidFill>
                  <a:srgbClr val="F7F4EC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7F4EC"/>
                </a:solidFill>
                <a:latin typeface="Arial"/>
                <a:ea typeface="Arial"/>
                <a:cs typeface="Arial"/>
              </a:rPr>
              <a:t>One script,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325" b="1" i="0">
                <a:solidFill>
                  <a:srgbClr val="F7F4EC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7F4EC"/>
                </a:solidFill>
                <a:latin typeface="Arial"/>
                <a:ea typeface="Arial"/>
                <a:cs typeface="Arial"/>
              </a:rPr>
              <a:t>three languages</a:t>
            </a:r>
          </a:p>
        </p:txBody>
      </p:sp>
      <p:sp>
        <p:nvSpPr>
          <p:cNvPr id="12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29394BBB-0746-4311-9CD8-2AC2E633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244"/>
          </a:bodyPr>
          <a:lstStyle xmlns:a="http://schemas.openxmlformats.org/drawingml/2006/main">
            <a:defPPr algn="l">
              <a:defRPr sz="1350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Script detection alone cannot separate the three closely related languages.</a:t>
            </a:r>
          </a:p>
        </p:txBody>
      </p:sp>
      <p:sp>
        <p:nvSpPr>
          <p:cNvPr id="13" name="zero-metric">
            <a:extLst xmlns:a="http://schemas.openxmlformats.org/drawingml/2006/main">
              <a:ext uri="{FF2B5EF4-FFF2-40B4-BE49-F238E27FC236}">
                <a16:creationId xmlns:a16="http://schemas.microsoft.com/office/drawing/2014/main" id="{F9F1D443-BEF5-4849-8A28-30BD4870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 i="0">
                <a:solidFill>
                  <a:srgbClr val="FF6E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50" b="1" i="0">
                <a:solidFill>
                  <a:srgbClr val="FF6E70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6E70"/>
                </a:solidFill>
                <a:latin typeface="Arial"/>
                <a:ea typeface="Arial"/>
                <a:cs typeface="Arial"/>
              </a:rPr>
              <a:t>0.00%</a:t>
            </a:r>
          </a:p>
        </p:txBody>
      </p:sp>
      <p:sp>
        <p:nvSpPr>
          <p:cNvPr id="14" name="zero-caption">
            <a:extLst xmlns:a="http://schemas.openxmlformats.org/drawingml/2006/main">
              <a:ext uri="{FF2B5EF4-FFF2-40B4-BE49-F238E27FC236}">
                <a16:creationId xmlns:a16="http://schemas.microsoft.com/office/drawing/2014/main" id="{F261EA66-BC80-40A8-BB50-BBC0EE31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F7F4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200" b="0" i="0">
                <a:solidFill>
                  <a:srgbClr val="F7F4E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7F4EC"/>
                </a:solidFill>
                <a:latin typeface="Arial"/>
                <a:ea typeface="Arial"/>
                <a:cs typeface="Arial"/>
              </a:rPr>
              <a:t>zero-shot F1 for Sinhala-script Pali and Sanskrit in stock foundation models</a:t>
            </a:r>
          </a:p>
        </p:txBody>
      </p:sp>
      <p:sp>
        <p:nvSpPr>
          <p:cNvPr id="15" name="problem-note">
            <a:extLst xmlns:a="http://schemas.openxmlformats.org/drawingml/2006/main">
              <a:ext uri="{FF2B5EF4-FFF2-40B4-BE49-F238E27FC236}">
                <a16:creationId xmlns:a16="http://schemas.microsoft.com/office/drawing/2014/main" id="{5DDAD5DE-D8F9-4352-B059-326E44BE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1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1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A9BAC7"/>
                </a:solidFill>
                <a:latin typeface="Arial"/>
                <a:ea typeface="Arial"/>
                <a:cs typeface="Arial"/>
              </a:rPr>
              <a:t>Existing label heads funnel both classes into Sinhala.</a:t>
            </a:r>
          </a:p>
        </p:txBody>
      </p:sp>
      <p:sp>
        <p:nvSpPr>
          <p:cNvPr id="16" name="corpus-stage">
            <a:extLst xmlns:a="http://schemas.openxmlformats.org/drawingml/2006/main">
              <a:ext uri="{FF2B5EF4-FFF2-40B4-BE49-F238E27FC236}">
                <a16:creationId xmlns:a16="http://schemas.microsoft.com/office/drawing/2014/main" id="{77C73465-34D0-4600-91DC-037961DD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2381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32C40"/>
          </a:solidFill>
          <a:ln xmlns:a="http://schemas.openxmlformats.org/drawingml/2006/main" w="19050">
            <a:solidFill>
              <a:srgbClr val="29C3DF"/>
            </a:solidFill>
            <a:prstDash val="solid"/>
          </a:ln>
        </p:spPr>
      </p:sp>
      <p:sp>
        <p:nvSpPr>
          <p:cNvPr id="17" name="corpus-stage-title">
            <a:extLst xmlns:a="http://schemas.openxmlformats.org/drawingml/2006/main">
              <a:ext uri="{FF2B5EF4-FFF2-40B4-BE49-F238E27FC236}">
                <a16:creationId xmlns:a16="http://schemas.microsoft.com/office/drawing/2014/main" id="{CBE50B76-178B-4D4B-AE28-54A4C3CB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29C3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29C3D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9C3DF"/>
                </a:solidFill>
                <a:latin typeface="Arial"/>
                <a:ea typeface="Arial"/>
                <a:cs typeface="Arial"/>
              </a:rPr>
              <a:t>Curated corpus</a:t>
            </a:r>
          </a:p>
        </p:txBody>
      </p:sp>
      <p:sp>
        <p:nvSpPr>
          <p:cNvPr id="18" name="corpus-stage-body">
            <a:extLst xmlns:a="http://schemas.openxmlformats.org/drawingml/2006/main">
              <a:ext uri="{FF2B5EF4-FFF2-40B4-BE49-F238E27FC236}">
                <a16:creationId xmlns:a16="http://schemas.microsoft.com/office/drawing/2014/main" id="{156DFC92-E617-4F95-B556-9FA2EE36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97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67,332 paper-benchmark sentences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97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Group-stratified train and test splits</a:t>
            </a:r>
          </a:p>
        </p:txBody>
      </p:sp>
      <p:sp>
        <p:nvSpPr>
          <p:cNvPr id="19" name="closed-world-stage">
            <a:extLst xmlns:a="http://schemas.openxmlformats.org/drawingml/2006/main">
              <a:ext uri="{FF2B5EF4-FFF2-40B4-BE49-F238E27FC236}">
                <a16:creationId xmlns:a16="http://schemas.microsoft.com/office/drawing/2014/main" id="{40D2D908-93A8-49CB-894A-1D87C767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19500"/>
            <a:ext cx="23241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02537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0" name="closed-world-stage-title">
            <a:extLst xmlns:a="http://schemas.openxmlformats.org/drawingml/2006/main">
              <a:ext uri="{FF2B5EF4-FFF2-40B4-BE49-F238E27FC236}">
                <a16:creationId xmlns:a16="http://schemas.microsoft.com/office/drawing/2014/main" id="{0FC86006-BD74-4834-A5DF-2FCC7641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909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234"/>
          </a:bodyPr>
          <a:lstStyle xmlns:a="http://schemas.openxmlformats.org/drawingml/2006/main">
            <a:defPPr algn="ctr">
              <a:defRPr sz="14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Closed-world benchmark</a:t>
            </a:r>
          </a:p>
        </p:txBody>
      </p:sp>
      <p:sp>
        <p:nvSpPr>
          <p:cNvPr id="21" name="closed-world-stage-body">
            <a:extLst xmlns:a="http://schemas.openxmlformats.org/drawingml/2006/main">
              <a:ext uri="{FF2B5EF4-FFF2-40B4-BE49-F238E27FC236}">
                <a16:creationId xmlns:a16="http://schemas.microsoft.com/office/drawing/2014/main" id="{B2F8187E-8F3B-4D80-B9A2-9BD526E1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71950"/>
            <a:ext cx="198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76"/>
          </a:bodyPr>
          <a:lstStyle xmlns:a="http://schemas.openxmlformats.org/drawingml/2006/main">
            <a:defPPr algn="ctr"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7 models trained from scratch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Full to one-word stress tests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Character n-grams and subword features</a:t>
            </a:r>
          </a:p>
        </p:txBody>
      </p:sp>
      <p:sp>
        <p:nvSpPr>
          <p:cNvPr id="22" name="open-world-stage">
            <a:extLst xmlns:a="http://schemas.openxmlformats.org/drawingml/2006/main">
              <a:ext uri="{FF2B5EF4-FFF2-40B4-BE49-F238E27FC236}">
                <a16:creationId xmlns:a16="http://schemas.microsoft.com/office/drawing/2014/main" id="{FE25240D-DB8C-4736-A527-4EB268EC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19500"/>
            <a:ext cx="23241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02537"/>
          </a:solidFill>
          <a:ln xmlns:a="http://schemas.openxmlformats.org/drawingml/2006/main" w="19050">
            <a:solidFill>
              <a:srgbClr val="A184FF"/>
            </a:solidFill>
            <a:prstDash val="solid"/>
          </a:ln>
        </p:spPr>
      </p:sp>
      <p:sp>
        <p:nvSpPr>
          <p:cNvPr id="23" name="open-world-stage-title">
            <a:extLst xmlns:a="http://schemas.openxmlformats.org/drawingml/2006/main">
              <a:ext uri="{FF2B5EF4-FFF2-40B4-BE49-F238E27FC236}">
                <a16:creationId xmlns:a16="http://schemas.microsoft.com/office/drawing/2014/main" id="{B1FA1C11-30CE-4AB3-9B2A-1072B13A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909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334"/>
          </a:bodyPr>
          <a:lstStyle xmlns:a="http://schemas.openxmlformats.org/drawingml/2006/main">
            <a:defPPr algn="ctr">
              <a:defRPr sz="1425" b="1" i="0">
                <a:solidFill>
                  <a:srgbClr val="A18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A184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184FF"/>
                </a:solidFill>
                <a:latin typeface="Arial"/>
                <a:ea typeface="Arial"/>
                <a:cs typeface="Arial"/>
              </a:rPr>
              <a:t>Open-world benchmark</a:t>
            </a:r>
          </a:p>
        </p:txBody>
      </p:sp>
      <p:sp>
        <p:nvSpPr>
          <p:cNvPr id="24" name="open-world-stage-body">
            <a:extLst xmlns:a="http://schemas.openxmlformats.org/drawingml/2006/main">
              <a:ext uri="{FF2B5EF4-FFF2-40B4-BE49-F238E27FC236}">
                <a16:creationId xmlns:a16="http://schemas.microsoft.com/office/drawing/2014/main" id="{6A8D2E3A-03C9-4F3A-B727-E2E474BA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198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930"/>
          </a:bodyPr>
          <a:lstStyle xmlns:a="http://schemas.openxmlformats.org/drawingml/2006/main">
            <a:defPPr algn="ctr"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6 foundation-model families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11 languages across three hybrids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Routing, LoRA and head extension</a:t>
            </a:r>
          </a:p>
        </p:txBody>
      </p:sp>
      <p:sp>
        <p:nvSpPr>
          <p:cNvPr id="25" name="language-output">
            <a:extLst xmlns:a="http://schemas.openxmlformats.org/drawingml/2006/main">
              <a:ext uri="{FF2B5EF4-FFF2-40B4-BE49-F238E27FC236}">
                <a16:creationId xmlns:a16="http://schemas.microsoft.com/office/drawing/2014/main" id="{E98B186B-EE16-4BF6-80EF-D622E377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86375"/>
            <a:ext cx="3276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E2630"/>
          </a:solidFill>
          <a:ln xmlns:a="http://schemas.openxmlformats.org/drawingml/2006/main" w="19050">
            <a:solidFill>
              <a:srgbClr val="5BDAA3"/>
            </a:solidFill>
            <a:prstDash val="solid"/>
          </a:ln>
        </p:spPr>
      </p:sp>
      <p:sp>
        <p:nvSpPr>
          <p:cNvPr id="26" name="language-output-text">
            <a:extLst xmlns:a="http://schemas.openxmlformats.org/drawingml/2006/main">
              <a:ext uri="{FF2B5EF4-FFF2-40B4-BE49-F238E27FC236}">
                <a16:creationId xmlns:a16="http://schemas.microsoft.com/office/drawing/2014/main" id="{1BFF8D6C-E337-44ED-BEC8-8567CCF1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4102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5BDA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5BDAA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DAA3"/>
                </a:solidFill>
                <a:latin typeface="Arial"/>
                <a:ea typeface="Arial"/>
                <a:cs typeface="Arial"/>
              </a:rPr>
              <a:t>SINHALA        PALI        SANSKRIT</a:t>
            </a:r>
          </a:p>
        </p:txBody>
      </p:sp>
      <p:sp>
        <p:nvSpPr>
          <p:cNvPr id="31" name="metric-one">
            <a:extLst xmlns:a="http://schemas.openxmlformats.org/drawingml/2006/main">
              <a:ext uri="{FF2B5EF4-FFF2-40B4-BE49-F238E27FC236}">
                <a16:creationId xmlns:a16="http://schemas.microsoft.com/office/drawing/2014/main" id="{FA74884F-A4A0-498E-84C1-A46047DD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03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5BDA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5BDAA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5BDAA3"/>
                </a:solidFill>
                <a:latin typeface="Arial"/>
                <a:ea typeface="Arial"/>
                <a:cs typeface="Arial"/>
              </a:rPr>
              <a:t>0.9985</a:t>
            </a:r>
          </a:p>
        </p:txBody>
      </p:sp>
      <p:sp>
        <p:nvSpPr>
          <p:cNvPr id="32" name="metric-one-caption">
            <a:extLst xmlns:a="http://schemas.openxmlformats.org/drawingml/2006/main">
              <a:ext uri="{FF2B5EF4-FFF2-40B4-BE49-F238E27FC236}">
                <a16:creationId xmlns:a16="http://schemas.microsoft.com/office/drawing/2014/main" id="{F28584F8-2199-4BC8-A26F-46D16889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146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Macro-F1, full sentences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Multinomial Naive Bayes</a:t>
            </a:r>
          </a:p>
        </p:txBody>
      </p:sp>
      <p:sp>
        <p:nvSpPr>
          <p:cNvPr id="33" name="metric-rule-one">
            <a:extLst xmlns:a="http://schemas.openxmlformats.org/drawingml/2006/main">
              <a:ext uri="{FF2B5EF4-FFF2-40B4-BE49-F238E27FC236}">
                <a16:creationId xmlns:a16="http://schemas.microsoft.com/office/drawing/2014/main" id="{31415C55-964E-45C4-B5FA-29442F71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8615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metric-two">
            <a:extLst xmlns:a="http://schemas.openxmlformats.org/drawingml/2006/main">
              <a:ext uri="{FF2B5EF4-FFF2-40B4-BE49-F238E27FC236}">
                <a16:creationId xmlns:a16="http://schemas.microsoft.com/office/drawing/2014/main" id="{4C5E108D-F33B-430E-8AD6-88EA8D01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0.8584</a:t>
            </a:r>
          </a:p>
        </p:txBody>
      </p:sp>
      <p:sp>
        <p:nvSpPr>
          <p:cNvPr id="35" name="metric-two-caption">
            <a:extLst xmlns:a="http://schemas.openxmlformats.org/drawingml/2006/main">
              <a:ext uri="{FF2B5EF4-FFF2-40B4-BE49-F238E27FC236}">
                <a16:creationId xmlns:a16="http://schemas.microsoft.com/office/drawing/2014/main" id="{76DD3107-4D79-49C3-B180-BA3FFBF6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529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Macro-F1, one-word fragments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Multinomial Naive Bayes</a:t>
            </a:r>
          </a:p>
        </p:txBody>
      </p:sp>
      <p:sp>
        <p:nvSpPr>
          <p:cNvPr id="36" name="metric-rule-two">
            <a:extLst xmlns:a="http://schemas.openxmlformats.org/drawingml/2006/main">
              <a:ext uri="{FF2B5EF4-FFF2-40B4-BE49-F238E27FC236}">
                <a16:creationId xmlns:a16="http://schemas.microsoft.com/office/drawing/2014/main" id="{D613DAA0-9EAD-484A-A032-050DCE31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2440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metric-three">
            <a:extLst xmlns:a="http://schemas.openxmlformats.org/drawingml/2006/main">
              <a:ext uri="{FF2B5EF4-FFF2-40B4-BE49-F238E27FC236}">
                <a16:creationId xmlns:a16="http://schemas.microsoft.com/office/drawing/2014/main" id="{2C9B5AE3-F1E5-470E-BAFA-B9A21E38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768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 i="0">
                <a:solidFill>
                  <a:srgbClr val="A18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A184FF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A184FF"/>
                </a:solidFill>
                <a:latin typeface="Arial"/>
                <a:ea typeface="Arial"/>
                <a:cs typeface="Arial"/>
              </a:rPr>
              <a:t>0.92–0.97</a:t>
            </a:r>
          </a:p>
        </p:txBody>
      </p:sp>
      <p:sp>
        <p:nvSpPr>
          <p:cNvPr id="38" name="metric-three-caption">
            <a:extLst xmlns:a="http://schemas.openxmlformats.org/drawingml/2006/main">
              <a:ext uri="{FF2B5EF4-FFF2-40B4-BE49-F238E27FC236}">
                <a16:creationId xmlns:a16="http://schemas.microsoft.com/office/drawing/2014/main" id="{30451362-AF32-4CF5-8569-A82D6374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41020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>
            <a:defPPr algn="l"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Macro-F1 range reported for targeted adaptation across 11-language hybrid benchmarks</a:t>
            </a:r>
          </a:p>
        </p:txBody>
      </p:sp>
      <p:sp>
        <p:nvSpPr>
          <p:cNvPr id="3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3BE37EF-CDE1-4FD7-9C02-1E840846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echnology-footer">
            <a:extLst xmlns:a="http://schemas.openxmlformats.org/drawingml/2006/main">
              <a:ext uri="{FF2B5EF4-FFF2-40B4-BE49-F238E27FC236}">
                <a16:creationId xmlns:a16="http://schemas.microsoft.com/office/drawing/2014/main" id="{F48C5854-118A-4F9B-ABE7-E063F8AA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9C3DF"/>
                </a:solidFill>
                <a:latin typeface="Arial"/>
                <a:ea typeface="Arial"/>
                <a:cs typeface="Arial"/>
              </a:rPr>
              <a:t>TECHNOLOGIES</a:t>
            </a:r>
            <a:r>
              <a:rPr sz="97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  Python, scikit-learn, PyTorch, Transformers, fastText and Hugging Face</a:t>
            </a:r>
          </a:p>
        </p:txBody>
      </p:sp>
      <p:sp>
        <p:nvSpPr>
          <p:cNvPr id="41" name="evaluation-footer">
            <a:extLst xmlns:a="http://schemas.openxmlformats.org/drawingml/2006/main">
              <a:ext uri="{FF2B5EF4-FFF2-40B4-BE49-F238E27FC236}">
                <a16:creationId xmlns:a16="http://schemas.microsoft.com/office/drawing/2014/main" id="{888E2593-8A89-427B-BDF5-9F2CA14B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229350"/>
            <a:ext cx="453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184FF"/>
                </a:solidFill>
                <a:latin typeface="Arial"/>
                <a:ea typeface="Arial"/>
                <a:cs typeface="Arial"/>
              </a:rPr>
              <a:t>EVALUATION</a:t>
            </a:r>
            <a:r>
              <a:rPr sz="97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  FLORES+, CommonLID and WiLI-2018 hybrid benchmarks</a:t>
            </a:r>
          </a:p>
        </p:txBody>
      </p:sp>
    </p:spTree>
    <p:extLst>
      <p:ext uri="{BB962C8B-B14F-4D97-AF65-F5344CB8AC3E}">
        <p14:creationId xmlns:p14="http://schemas.microsoft.com/office/powerpoint/2010/main" val="5373313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2026-10-08T04:08:31.7550000Z</dcterms:created>
  <dcterms:modified xsi:type="dcterms:W3CDTF">2026-10-08T04:08:31.7550000Z</dcterms:modified>
</coreProperties>
</file>