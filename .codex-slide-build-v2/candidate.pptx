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029a9420f9493c" /><Relationship Type="http://schemas.openxmlformats.org/officeDocument/2006/relationships/extended-properties" Target="/docProps/app.xml" Id="R64929f99b2664135" /><Relationship Type="http://schemas.openxmlformats.org/officeDocument/2006/relationships/officeDocument" Target="/ppt/presentation.xml" Id="R9e68c1d03ff441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eea8cd0247ee"/>
  </p:sldMasterIdLst>
  <p:notesMasterIdLst>
    <p:notesMasterId xmlns:r="http://schemas.openxmlformats.org/officeDocument/2006/relationships" r:id="Rda988d8146d44a96"/>
  </p:notesMasterIdLst>
  <p:sldIdLst>
    <p:sldId xmlns:r="http://schemas.openxmlformats.org/officeDocument/2006/relationships" id="256" r:id="R3a455d9f010b49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7a3348efd84425" /><Relationship Type="http://schemas.openxmlformats.org/officeDocument/2006/relationships/slideMaster" Target="/ppt/slideMasters/slideMaster1.xml" Id="R5ab0eea8cd0247ee" /><Relationship Type="http://schemas.openxmlformats.org/officeDocument/2006/relationships/notesMaster" Target="/ppt/notesMasters/notesMaster1.xml" Id="Rda988d8146d44a96" /><Relationship Type="http://schemas.openxmlformats.org/officeDocument/2006/relationships/presProps" Target="/ppt/presProps.xml" Id="Ra8bac25460fe44a1" /><Relationship Type="http://schemas.openxmlformats.org/officeDocument/2006/relationships/tableStyles" Target="/ppt/tableStyles.xml" Id="Rd291c681d06946ef" /><Relationship Type="http://schemas.openxmlformats.org/officeDocument/2006/relationships/slide" Target="/ppt/slides/slide1.xml" Id="R3a455d9f010b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fd262a06445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fe21161f04792" /><Relationship Type="http://schemas.openxmlformats.org/officeDocument/2006/relationships/notesMaster" Target="/ppt/notesMasters/notesMaster1.xml" Id="R816f808b95be4b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for slide claims and implementation: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Sanskrit\Sinhala-Script-Language-Identification-LangID-for-Sinhala-Pali-and-Sanskrit\ACLV2.tex (target corpus, benchmark design and reported results)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Sanskrit\Sinhala-Script-Language-Identification-LangID-for-Sinhala-Pali-and-Sanskrit\webapp\frontend\package.json (Next.js version)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Sanskrit\Sinhala-Script-Language-Identification-LangID-for-Sinhala-Pali-and-Sanskrit\webapp\backend\pyproject.toml (backend dependencies)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Sanskrit\Sinhala-Script-Language-Identification-LangID-for-Sinhala-Pali-and-Sanskrit\webapp\backend\app\ocr\registry.py (OCR engines)</a:t>
            </a:r>
          </a:p>
          <a:p xmlns:a="http://schemas.openxmlformats.org/drawingml/2006/main">
            <a:r>
              <a:t>C:\Users\User\Desktop\Vscode\Sinhala-Script Language Identification (LangID) for Sinhala, Pali and Sanskrit\Sinhala-Script-Language-Identification-LangID-for-Sinhala-Pali-and-Sanskrit\webapp\backend\app\api\v1\annotations.py (corrections)</a:t>
            </a:r>
          </a:p>
          <a:p xmlns:a="http://schemas.openxmlformats.org/drawingml/2006/main">
            <a:r>
              <a:t>The user-provided complete project description informed the slide structure. No personal or team identifiers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a04cabf1742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c3365c09540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4212d89a748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8ff3ac7054f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877d1f00442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ae5ddc5a0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FC787D-0B41-429A-920E-8E86A3F4C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873899-1E97-4546-8A96-EE318F4C2A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C17D56-A860-4230-BD2D-DB7685167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7F49EC-76DD-4DEB-9E08-B62075D5C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EC0B43-B90B-42A5-AA3F-A6331BEF3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4A90CF-046E-4E17-A324-A3ABADA5A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185A73-9934-4DDB-B9E4-A1A9AAE3FD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F43CC5-9824-43CB-9AAC-6ABD93A3FA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E733C9-6F84-4BEA-8F8F-A0824ACDF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AB6C89-73AC-4F36-B6F2-05F4AF4E64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7cc4d40634bc8" /><Relationship Type="http://schemas.openxmlformats.org/officeDocument/2006/relationships/slideLayout" Target="/ppt/slideLayouts/slideLayout1.xml" Id="R7e3d0fd2b3e347b6" /><Relationship Type="http://schemas.openxmlformats.org/officeDocument/2006/relationships/slideLayout" Target="/ppt/slideLayouts/slideLayout2.xml" Id="Rf59e3ad69a4b4db3" /><Relationship Type="http://schemas.openxmlformats.org/officeDocument/2006/relationships/slideLayout" Target="/ppt/slideLayouts/slideLayout3.xml" Id="R6b845c16b11f4f39" /><Relationship Type="http://schemas.openxmlformats.org/officeDocument/2006/relationships/slideLayout" Target="/ppt/slideLayouts/slideLayout4.xml" Id="R64033955935a4eeb" /><Relationship Type="http://schemas.openxmlformats.org/officeDocument/2006/relationships/slideLayout" Target="/ppt/slideLayouts/slideLayout5.xml" Id="R17707b3e2947408c" /><Relationship Type="http://schemas.openxmlformats.org/officeDocument/2006/relationships/slideLayout" Target="/ppt/slideLayouts/slideLayout6.xml" Id="R2ddd3e4492404e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d0fd2b3e347b6"/>
    <p:sldLayoutId xmlns:r="http://schemas.openxmlformats.org/officeDocument/2006/relationships" id="2147483650" r:id="Rf59e3ad69a4b4db3"/>
    <p:sldLayoutId xmlns:r="http://schemas.openxmlformats.org/officeDocument/2006/relationships" id="2147483651" r:id="R6b845c16b11f4f39"/>
    <p:sldLayoutId xmlns:r="http://schemas.openxmlformats.org/officeDocument/2006/relationships" id="2147483652" r:id="R64033955935a4eeb"/>
    <p:sldLayoutId xmlns:r="http://schemas.openxmlformats.org/officeDocument/2006/relationships" id="2147483653" r:id="R17707b3e2947408c"/>
    <p:sldLayoutId xmlns:r="http://schemas.openxmlformats.org/officeDocument/2006/relationships" id="2147483654" r:id="R2ddd3e4492404e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db01a4b93e4e86" /><Relationship Type="http://schemas.openxmlformats.org/officeDocument/2006/relationships/notesSlide" Target="/ppt/notesSlides/notesSlide1.xml" Id="R5e51d27736af45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C25FEC9-19A1-4847-B3C3-ABF81255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40BD2958-4E42-4D91-83F6-03887D2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ader-kicker">
            <a:extLst xmlns:a="http://schemas.openxmlformats.org/drawingml/2006/main">
              <a:ext uri="{FF2B5EF4-FFF2-40B4-BE49-F238E27FC236}">
                <a16:creationId xmlns:a16="http://schemas.microsoft.com/office/drawing/2014/main" id="{906C6355-D3A4-4FE7-BA26-612FC609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DE1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9DE1E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DE1E5"/>
                </a:solidFill>
                <a:latin typeface="Arial"/>
                <a:ea typeface="Arial"/>
                <a:cs typeface="Arial"/>
              </a:rPr>
              <a:t>BENCHMARK  +  PRODUCTION PLATFORM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05CBB2-78C0-4C9F-9BEE-23A71A8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Sinhala-Script Language Identification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7A37D7-3E61-4E7E-BCA4-67C837DD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4E7F1"/>
                </a:solidFill>
                <a:latin typeface="Arial"/>
                <a:ea typeface="Arial"/>
                <a:cs typeface="Arial"/>
              </a:rPr>
              <a:t>Disambiguating Sinhala, Pali and Sanskrit in research and document workflows</a:t>
            </a:r>
          </a:p>
        </p:txBody>
      </p:sp>
      <p:sp>
        <p:nvSpPr>
          <p:cNvPr id="6" name="left-divider">
            <a:extLst xmlns:a="http://schemas.openxmlformats.org/drawingml/2006/main">
              <a:ext uri="{FF2B5EF4-FFF2-40B4-BE49-F238E27FC236}">
                <a16:creationId xmlns:a16="http://schemas.microsoft.com/office/drawing/2014/main" id="{5E113CC2-D86A-4117-82F2-52EB9A2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514475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ght-divider">
            <a:extLst xmlns:a="http://schemas.openxmlformats.org/drawingml/2006/main">
              <a:ext uri="{FF2B5EF4-FFF2-40B4-BE49-F238E27FC236}">
                <a16:creationId xmlns:a16="http://schemas.microsoft.com/office/drawing/2014/main" id="{4A46B13E-6B5D-42AC-92B4-57E856B5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14475"/>
            <a:ext cx="190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The problem">
            <a:extLst xmlns:a="http://schemas.openxmlformats.org/drawingml/2006/main">
              <a:ext uri="{FF2B5EF4-FFF2-40B4-BE49-F238E27FC236}">
                <a16:creationId xmlns:a16="http://schemas.microsoft.com/office/drawing/2014/main" id="{BCBFA808-2A73-4C5B-AE0C-980311D4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9" name="accent-The problem">
            <a:extLst xmlns:a="http://schemas.openxmlformats.org/drawingml/2006/main">
              <a:ext uri="{FF2B5EF4-FFF2-40B4-BE49-F238E27FC236}">
                <a16:creationId xmlns:a16="http://schemas.microsoft.com/office/drawing/2014/main" id="{4E2B6714-C061-44E7-80E3-39EB681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8575A612-82A3-4017-B48B-8EBB4D66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 Sinhala script also carries Pali and Sanskrit. Off-the-shelf language identifiers often label both as Sinhala, making historical texts harder to search and index.</a:t>
            </a:r>
          </a:p>
        </p:txBody>
      </p:sp>
      <p:sp>
        <p:nvSpPr>
          <p:cNvPr id="11" name="zero-callout">
            <a:extLst xmlns:a="http://schemas.openxmlformats.org/drawingml/2006/main">
              <a:ext uri="{FF2B5EF4-FFF2-40B4-BE49-F238E27FC236}">
                <a16:creationId xmlns:a16="http://schemas.microsoft.com/office/drawing/2014/main" id="{8ABB8A2D-D2EE-4316-9A3F-9020DE8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9718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9525">
            <a:solidFill>
              <a:srgbClr val="BDE4E7"/>
            </a:solidFill>
            <a:prstDash val="solid"/>
          </a:ln>
        </p:spPr>
      </p:sp>
      <p:sp>
        <p:nvSpPr>
          <p:cNvPr id="12" name="zero-number">
            <a:extLst xmlns:a="http://schemas.openxmlformats.org/drawingml/2006/main">
              <a:ext uri="{FF2B5EF4-FFF2-40B4-BE49-F238E27FC236}">
                <a16:creationId xmlns:a16="http://schemas.microsoft.com/office/drawing/2014/main" id="{1DD0845B-69FD-4A3F-B0AF-CD76BF5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D54C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450" b="1">
                <a:solidFill>
                  <a:srgbClr val="D54C5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4C5C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13" name="zero-label">
            <a:extLst xmlns:a="http://schemas.openxmlformats.org/drawingml/2006/main">
              <a:ext uri="{FF2B5EF4-FFF2-40B4-BE49-F238E27FC236}">
                <a16:creationId xmlns:a16="http://schemas.microsoft.com/office/drawing/2014/main" id="{2260311F-60E9-4417-9F72-3E55DFE3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869"/>
          </a:bodyPr>
          <a:lstStyle xmlns:a="http://schemas.openxmlformats.org/drawingml/2006/main">
            <a:defPPr algn="l"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reported zero-shot F1 for Sinhala-script Pali and Sanskrit in tested stock models</a:t>
            </a:r>
          </a:p>
        </p:txBody>
      </p:sp>
      <p:sp>
        <p:nvSpPr>
          <p:cNvPr id="14" name="section-Research corpus">
            <a:extLst xmlns:a="http://schemas.openxmlformats.org/drawingml/2006/main">
              <a:ext uri="{FF2B5EF4-FFF2-40B4-BE49-F238E27FC236}">
                <a16:creationId xmlns:a16="http://schemas.microsoft.com/office/drawing/2014/main" id="{568E4311-F56A-4646-9AE7-B6A29B95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RESEARCH CORPUS</a:t>
            </a:r>
          </a:p>
        </p:txBody>
      </p:sp>
      <p:sp>
        <p:nvSpPr>
          <p:cNvPr id="15" name="accent-Research corpus">
            <a:extLst xmlns:a="http://schemas.openxmlformats.org/drawingml/2006/main">
              <a:ext uri="{FF2B5EF4-FFF2-40B4-BE49-F238E27FC236}">
                <a16:creationId xmlns:a16="http://schemas.microsoft.com/office/drawing/2014/main" id="{D5FA052A-4E92-44FC-8446-54B564A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rpus-number">
            <a:extLst xmlns:a="http://schemas.openxmlformats.org/drawingml/2006/main">
              <a:ext uri="{FF2B5EF4-FFF2-40B4-BE49-F238E27FC236}">
                <a16:creationId xmlns:a16="http://schemas.microsoft.com/office/drawing/2014/main" id="{E62702AF-356D-400B-8E9C-76294F07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2047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3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74,318</a:t>
            </a:r>
          </a:p>
        </p:txBody>
      </p:sp>
      <p:sp>
        <p:nvSpPr>
          <p:cNvPr id="17" name="corpus-copy">
            <a:extLst xmlns:a="http://schemas.openxmlformats.org/drawingml/2006/main">
              <a:ext uri="{FF2B5EF4-FFF2-40B4-BE49-F238E27FC236}">
                <a16:creationId xmlns:a16="http://schemas.microsoft.com/office/drawing/2014/main" id="{35B7D9C5-B7A4-49C6-93AA-9B56A9E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63"/>
          </a:bodyPr>
          <a:lstStyle xmlns:a="http://schemas.openxmlformats.org/drawingml/2006/main">
            <a:defPPr algn="l"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Sinhala-script sentences; split by document group. The held-out test set contains 7,047 sentences.</a:t>
            </a:r>
          </a:p>
        </p:txBody>
      </p:sp>
      <p:sp>
        <p:nvSpPr>
          <p:cNvPr id="18" name="section-Research methodology">
            <a:extLst xmlns:a="http://schemas.openxmlformats.org/drawingml/2006/main">
              <a:ext uri="{FF2B5EF4-FFF2-40B4-BE49-F238E27FC236}">
                <a16:creationId xmlns:a16="http://schemas.microsoft.com/office/drawing/2014/main" id="{F349013C-92DD-48F6-B5FE-DDB75DE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240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RESEARCH METHODOLOGY</a:t>
            </a:r>
          </a:p>
        </p:txBody>
      </p:sp>
      <p:sp>
        <p:nvSpPr>
          <p:cNvPr id="19" name="accent-Research methodology">
            <a:extLst xmlns:a="http://schemas.openxmlformats.org/drawingml/2006/main">
              <a:ext uri="{FF2B5EF4-FFF2-40B4-BE49-F238E27FC236}">
                <a16:creationId xmlns:a16="http://schemas.microsoft.com/office/drawing/2014/main" id="{3A90E979-50A4-44D4-86E7-AA0636E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847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1">
            <a:extLst xmlns:a="http://schemas.openxmlformats.org/drawingml/2006/main">
              <a:ext uri="{FF2B5EF4-FFF2-40B4-BE49-F238E27FC236}">
                <a16:creationId xmlns:a16="http://schemas.microsoft.com/office/drawing/2014/main" id="{01F27C01-A611-4E2E-85FD-7AEFC4D1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028825"/>
            <a:ext cx="4343400" cy="1076325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FF6FB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21" name="method-1-number">
            <a:extLst xmlns:a="http://schemas.openxmlformats.org/drawingml/2006/main">
              <a:ext uri="{FF2B5EF4-FFF2-40B4-BE49-F238E27FC236}">
                <a16:creationId xmlns:a16="http://schemas.microsoft.com/office/drawing/2014/main" id="{8EDA5728-F09E-4FDA-83B9-9A9072D2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162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D9B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0D9B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9B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D75F2C23-D47F-456B-8711-A028731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4312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Closed-world benchmark</a:t>
            </a:r>
          </a:p>
        </p:txBody>
      </p:sp>
      <p:sp>
        <p:nvSpPr>
          <p:cNvPr id="23" name="method-1-copy">
            <a:extLst xmlns:a="http://schemas.openxmlformats.org/drawingml/2006/main">
              <a:ext uri="{FF2B5EF4-FFF2-40B4-BE49-F238E27FC236}">
                <a16:creationId xmlns:a16="http://schemas.microsoft.com/office/drawing/2014/main" id="{4E2382C4-820C-488C-9F0A-1EEA3B4B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146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277"/>
          </a:bodyPr>
          <a:lstStyle xmlns:a="http://schemas.openxmlformats.org/drawingml/2006/main">
            <a:defPPr algn="l">
              <a:defRPr sz="120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Seven models trained from scratch, including character n-gram and neural baselines. Tested on full sentences and 5-, 3-, and 1-word fragments.</a:t>
            </a:r>
          </a:p>
        </p:txBody>
      </p:sp>
      <p:sp>
        <p:nvSpPr>
          <p:cNvPr id="24" name="method-2">
            <a:extLst xmlns:a="http://schemas.openxmlformats.org/drawingml/2006/main">
              <a:ext uri="{FF2B5EF4-FFF2-40B4-BE49-F238E27FC236}">
                <a16:creationId xmlns:a16="http://schemas.microsoft.com/office/drawing/2014/main" id="{B8612409-A7E4-4129-AAA9-88A42DC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48025"/>
            <a:ext cx="43434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F6FB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25" name="method-2-number">
            <a:extLst xmlns:a="http://schemas.openxmlformats.org/drawingml/2006/main">
              <a:ext uri="{FF2B5EF4-FFF2-40B4-BE49-F238E27FC236}">
                <a16:creationId xmlns:a16="http://schemas.microsoft.com/office/drawing/2014/main" id="{58E004EB-AAEB-4677-ACB9-0AA7D6E9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81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D9B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0D9B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9B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F4930EE4-222B-448D-9A7A-99F49A3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6232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Open-world adaptation</a:t>
            </a:r>
          </a:p>
        </p:txBody>
      </p:sp>
      <p:sp>
        <p:nvSpPr>
          <p:cNvPr id="27" name="method-2-copy">
            <a:extLst xmlns:a="http://schemas.openxmlformats.org/drawingml/2006/main">
              <a:ext uri="{FF2B5EF4-FFF2-40B4-BE49-F238E27FC236}">
                <a16:creationId xmlns:a16="http://schemas.microsoft.com/office/drawing/2014/main" id="{7F7CF6F3-8068-4699-9107-7F2F34D7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733800"/>
            <a:ext cx="3924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92"/>
          </a:bodyPr>
          <a:lstStyle xmlns:a="http://schemas.openxmlformats.org/drawingml/2006/main">
            <a:defPPr algn="l">
              <a:defRPr sz="120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20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Six pretrained families adapted and evaluated on 11 language-script classes across FLORES+, CommonLID and WiLI-2018 hybrid benchmarks.</a:t>
            </a:r>
          </a:p>
        </p:txBody>
      </p:sp>
      <p:sp>
        <p:nvSpPr>
          <p:cNvPr id="28" name="routing-heading">
            <a:extLst xmlns:a="http://schemas.openxmlformats.org/drawingml/2006/main">
              <a:ext uri="{FF2B5EF4-FFF2-40B4-BE49-F238E27FC236}">
                <a16:creationId xmlns:a16="http://schemas.microsoft.com/office/drawing/2014/main" id="{3930F44E-80D9-43E3-B49F-9E9E77F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4958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TWO-STAGE ROUTING EXAMPLE</a:t>
            </a:r>
          </a:p>
        </p:txBody>
      </p:sp>
      <p:sp>
        <p:nvSpPr>
          <p:cNvPr id="29" name="router">
            <a:extLst xmlns:a="http://schemas.openxmlformats.org/drawingml/2006/main">
              <a:ext uri="{FF2B5EF4-FFF2-40B4-BE49-F238E27FC236}">
                <a16:creationId xmlns:a16="http://schemas.microsoft.com/office/drawing/2014/main" id="{3C06B336-BF5B-4609-88A8-86F5386F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57750"/>
            <a:ext cx="12192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9BA8"/>
            </a:solidFill>
            <a:prstDash val="solid"/>
          </a:ln>
        </p:spPr>
      </p:sp>
      <p:sp>
        <p:nvSpPr>
          <p:cNvPr id="30" name="router-text">
            <a:extLst xmlns:a="http://schemas.openxmlformats.org/drawingml/2006/main">
              <a:ext uri="{FF2B5EF4-FFF2-40B4-BE49-F238E27FC236}">
                <a16:creationId xmlns:a16="http://schemas.microsoft.com/office/drawing/2014/main" id="{635BE3C3-DCBC-4396-904F-1E80E3D2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62525"/>
            <a:ext cx="104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Global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cxnSp>
        <p:nvCxnSpPr>
          <p:cNvPr id="31" name="router-arrow">
            <a:extLst xmlns:a="http://schemas.openxmlformats.org/drawingml/2006/main">
              <a:ext uri="{FF2B5EF4-FFF2-40B4-BE49-F238E27FC236}">
                <a16:creationId xmlns:a16="http://schemas.microsoft.com/office/drawing/2014/main" id="{31F145FC-123D-445D-B279-9F2379984631}"/>
              </a:ext>
            </a:extLst>
          </p:cNvPr>
          <p:cNvCxnSpPr/>
          <p:nvPr/>
        </p:nvCxnSpPr>
        <p:spPr>
          <a:xfrm xmlns:a="http://schemas.openxmlformats.org/drawingml/2006/main">
            <a:off x="5153025" y="51816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BA8"/>
            </a:solidFill>
            <a:prstDash val="solid"/>
            <a:tailEnd type="triangle" w="sm" len="sm"/>
          </a:ln>
        </p:spPr>
      </p:cxnSp>
      <p:sp>
        <p:nvSpPr>
          <p:cNvPr id="32" name="gate">
            <a:extLst xmlns:a="http://schemas.openxmlformats.org/drawingml/2006/main">
              <a:ext uri="{FF2B5EF4-FFF2-40B4-BE49-F238E27FC236}">
                <a16:creationId xmlns:a16="http://schemas.microsoft.com/office/drawing/2014/main" id="{8458E374-62FA-4589-A705-2363D021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57750"/>
            <a:ext cx="1209675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9BA8"/>
            </a:solidFill>
            <a:prstDash val="solid"/>
          </a:ln>
        </p:spPr>
      </p:sp>
      <p:sp>
        <p:nvSpPr>
          <p:cNvPr id="33" name="gate-text">
            <a:extLst xmlns:a="http://schemas.openxmlformats.org/drawingml/2006/main">
              <a:ext uri="{FF2B5EF4-FFF2-40B4-BE49-F238E27FC236}">
                <a16:creationId xmlns:a16="http://schemas.microsoft.com/office/drawing/2014/main" id="{BE7753AB-DDA1-49AC-8C55-45852E8F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62525"/>
            <a:ext cx="1038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Sinhala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script?</a:t>
            </a:r>
          </a:p>
        </p:txBody>
      </p:sp>
      <p:cxnSp>
        <p:nvCxnSpPr>
          <p:cNvPr id="34" name="gate-arrow">
            <a:extLst xmlns:a="http://schemas.openxmlformats.org/drawingml/2006/main">
              <a:ext uri="{FF2B5EF4-FFF2-40B4-BE49-F238E27FC236}">
                <a16:creationId xmlns:a16="http://schemas.microsoft.com/office/drawing/2014/main" id="{BCEA2F25-2E93-40B0-9836-C67C27514956}"/>
              </a:ext>
            </a:extLst>
          </p:cNvPr>
          <p:cNvCxnSpPr/>
          <p:nvPr/>
        </p:nvCxnSpPr>
        <p:spPr>
          <a:xfrm xmlns:a="http://schemas.openxmlformats.org/drawingml/2006/main">
            <a:off x="6648450" y="51816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BA8"/>
            </a:solidFill>
            <a:prstDash val="solid"/>
            <a:tailEnd type="triangle" w="sm" len="sm"/>
          </a:ln>
        </p:spPr>
      </p:cxnSp>
      <p:sp>
        <p:nvSpPr>
          <p:cNvPr id="35" name="specialist">
            <a:extLst xmlns:a="http://schemas.openxmlformats.org/drawingml/2006/main">
              <a:ext uri="{FF2B5EF4-FFF2-40B4-BE49-F238E27FC236}">
                <a16:creationId xmlns:a16="http://schemas.microsoft.com/office/drawing/2014/main" id="{2F847E86-9F06-47AE-9AC7-39F3976C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57750"/>
            <a:ext cx="1343025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9BA8"/>
            </a:solidFill>
            <a:prstDash val="solid"/>
          </a:ln>
        </p:spPr>
      </p:sp>
      <p:sp>
        <p:nvSpPr>
          <p:cNvPr id="36" name="specialist-text">
            <a:extLst xmlns:a="http://schemas.openxmlformats.org/drawingml/2006/main">
              <a:ext uri="{FF2B5EF4-FFF2-40B4-BE49-F238E27FC236}">
                <a16:creationId xmlns:a16="http://schemas.microsoft.com/office/drawing/2014/main" id="{F6E0E012-784F-4114-8534-09994C92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62525"/>
            <a:ext cx="117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Three-language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specialist</a:t>
            </a:r>
          </a:p>
        </p:txBody>
      </p:sp>
      <p:sp>
        <p:nvSpPr>
          <p:cNvPr id="37" name="routing-note">
            <a:extLst xmlns:a="http://schemas.openxmlformats.org/drawingml/2006/main">
              <a:ext uri="{FF2B5EF4-FFF2-40B4-BE49-F238E27FC236}">
                <a16:creationId xmlns:a16="http://schemas.microsoft.com/office/drawing/2014/main" id="{CB20D026-AFC6-45AC-A847-9B71F58B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619750"/>
            <a:ext cx="434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Other scripts retain the global model prediction.</a:t>
            </a:r>
          </a:p>
        </p:txBody>
      </p:sp>
      <p:sp>
        <p:nvSpPr>
          <p:cNvPr id="38" name="section-Web platform">
            <a:extLst xmlns:a="http://schemas.openxmlformats.org/drawingml/2006/main">
              <a:ext uri="{FF2B5EF4-FFF2-40B4-BE49-F238E27FC236}">
                <a16:creationId xmlns:a16="http://schemas.microsoft.com/office/drawing/2014/main" id="{450303D7-911C-42F6-876A-0CD7D99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0D36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65B"/>
                </a:solidFill>
                <a:latin typeface="Arial"/>
                <a:ea typeface="Arial"/>
                <a:cs typeface="Arial"/>
              </a:rPr>
              <a:t>WEB PLATFORM</a:t>
            </a:r>
          </a:p>
        </p:txBody>
      </p:sp>
      <p:sp>
        <p:nvSpPr>
          <p:cNvPr id="39" name="accent-Web platform">
            <a:extLst xmlns:a="http://schemas.openxmlformats.org/drawingml/2006/main">
              <a:ext uri="{FF2B5EF4-FFF2-40B4-BE49-F238E27FC236}">
                <a16:creationId xmlns:a16="http://schemas.microsoft.com/office/drawing/2014/main" id="{CB943CD2-5947-4E8E-9BAC-9782B6C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478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B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latform-intro">
            <a:extLst xmlns:a="http://schemas.openxmlformats.org/drawingml/2006/main">
              <a:ext uri="{FF2B5EF4-FFF2-40B4-BE49-F238E27FC236}">
                <a16:creationId xmlns:a16="http://schemas.microsoft.com/office/drawing/2014/main" id="{B27C88F6-B8F3-41A0-986B-5C1F1FC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28825"/>
            <a:ext cx="2905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73"/>
          </a:bodyPr>
          <a:lstStyle xmlns:a="http://schemas.openxmlformats.org/drawingml/2006/main">
            <a:defPPr algn="l">
              <a:defRPr sz="13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browser workflow for classifying text and scanned documents, then reviewing the language labels.</a:t>
            </a:r>
          </a:p>
        </p:txBody>
      </p:sp>
      <p:sp>
        <p:nvSpPr>
          <p:cNvPr id="41" name="platform-0">
            <a:extLst xmlns:a="http://schemas.openxmlformats.org/drawingml/2006/main">
              <a:ext uri="{FF2B5EF4-FFF2-40B4-BE49-F238E27FC236}">
                <a16:creationId xmlns:a16="http://schemas.microsoft.com/office/drawing/2014/main" id="{075635A6-5865-4A45-9B45-1C5D78C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29432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FF6FB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42" name="platform-0-label">
            <a:extLst xmlns:a="http://schemas.openxmlformats.org/drawingml/2006/main">
              <a:ext uri="{FF2B5EF4-FFF2-40B4-BE49-F238E27FC236}">
                <a16:creationId xmlns:a16="http://schemas.microsoft.com/office/drawing/2014/main" id="{9BF43CF5-3B22-43DA-A3DB-CF1DDF6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67025"/>
            <a:ext cx="942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43" name="platform-0-detail">
            <a:extLst xmlns:a="http://schemas.openxmlformats.org/drawingml/2006/main">
              <a:ext uri="{FF2B5EF4-FFF2-40B4-BE49-F238E27FC236}">
                <a16:creationId xmlns:a16="http://schemas.microsoft.com/office/drawing/2014/main" id="{CE2524FB-6C0D-456E-A7FF-7AFCE7A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67025"/>
            <a:ext cx="168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Text, PDF or image</a:t>
            </a:r>
          </a:p>
        </p:txBody>
      </p:sp>
      <p:cxnSp>
        <p:nvCxnSpPr>
          <p:cNvPr id="44" name="platform-arrow-0">
            <a:extLst xmlns:a="http://schemas.openxmlformats.org/drawingml/2006/main">
              <a:ext uri="{FF2B5EF4-FFF2-40B4-BE49-F238E27FC236}">
                <a16:creationId xmlns:a16="http://schemas.microsoft.com/office/drawing/2014/main" id="{162F4368-5B5C-42D8-BAD0-D3A6246B9FF8}"/>
              </a:ext>
            </a:extLst>
          </p:cNvPr>
          <p:cNvCxnSpPr/>
          <p:nvPr/>
        </p:nvCxnSpPr>
        <p:spPr>
          <a:xfrm xmlns:a="http://schemas.openxmlformats.org/drawingml/2006/main">
            <a:off x="10172700" y="3295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BA8"/>
            </a:solidFill>
            <a:prstDash val="solid"/>
            <a:tailEnd type="triangle" w="sm" len="sm"/>
          </a:ln>
        </p:spPr>
      </p:cxnSp>
      <p:sp>
        <p:nvSpPr>
          <p:cNvPr id="45" name="platform-1">
            <a:extLst xmlns:a="http://schemas.openxmlformats.org/drawingml/2006/main">
              <a:ext uri="{FF2B5EF4-FFF2-40B4-BE49-F238E27FC236}">
                <a16:creationId xmlns:a16="http://schemas.microsoft.com/office/drawing/2014/main" id="{B72A2966-DD2C-4038-B7C6-3B0E1C1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57575"/>
            <a:ext cx="29432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46" name="platform-1-label">
            <a:extLst xmlns:a="http://schemas.openxmlformats.org/drawingml/2006/main">
              <a:ext uri="{FF2B5EF4-FFF2-40B4-BE49-F238E27FC236}">
                <a16:creationId xmlns:a16="http://schemas.microsoft.com/office/drawing/2014/main" id="{BEFC089E-B0AD-4C4F-926C-2AC09FC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24250"/>
            <a:ext cx="942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47" name="platform-1-detail">
            <a:extLst xmlns:a="http://schemas.openxmlformats.org/drawingml/2006/main">
              <a:ext uri="{FF2B5EF4-FFF2-40B4-BE49-F238E27FC236}">
                <a16:creationId xmlns:a16="http://schemas.microsoft.com/office/drawing/2014/main" id="{E94262E3-D585-43D6-B300-65FB8E0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524250"/>
            <a:ext cx="168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Tesseract or Surya OCR</a:t>
            </a:r>
          </a:p>
        </p:txBody>
      </p:sp>
      <p:cxnSp>
        <p:nvCxnSpPr>
          <p:cNvPr id="48" name="platform-arrow-1">
            <a:extLst xmlns:a="http://schemas.openxmlformats.org/drawingml/2006/main">
              <a:ext uri="{FF2B5EF4-FFF2-40B4-BE49-F238E27FC236}">
                <a16:creationId xmlns:a16="http://schemas.microsoft.com/office/drawing/2014/main" id="{908AE320-52D0-4E5A-B117-935D3A543937}"/>
              </a:ext>
            </a:extLst>
          </p:cNvPr>
          <p:cNvCxnSpPr/>
          <p:nvPr/>
        </p:nvCxnSpPr>
        <p:spPr>
          <a:xfrm xmlns:a="http://schemas.openxmlformats.org/drawingml/2006/main">
            <a:off x="10172700" y="395287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BA8"/>
            </a:solidFill>
            <a:prstDash val="solid"/>
            <a:tailEnd type="triangle" w="sm" len="sm"/>
          </a:ln>
        </p:spPr>
      </p:cxnSp>
      <p:sp>
        <p:nvSpPr>
          <p:cNvPr id="49" name="platform-2">
            <a:extLst xmlns:a="http://schemas.openxmlformats.org/drawingml/2006/main">
              <a:ext uri="{FF2B5EF4-FFF2-40B4-BE49-F238E27FC236}">
                <a16:creationId xmlns:a16="http://schemas.microsoft.com/office/drawing/2014/main" id="{88CA056E-F45F-4444-B581-EC00FC55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9432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FF6FB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50" name="platform-2-label">
            <a:extLst xmlns:a="http://schemas.openxmlformats.org/drawingml/2006/main">
              <a:ext uri="{FF2B5EF4-FFF2-40B4-BE49-F238E27FC236}">
                <a16:creationId xmlns:a16="http://schemas.microsoft.com/office/drawing/2014/main" id="{D40D575B-527D-4CE4-A86D-8E17228B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181475"/>
            <a:ext cx="942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51" name="platform-2-detail">
            <a:extLst xmlns:a="http://schemas.openxmlformats.org/drawingml/2006/main">
              <a:ext uri="{FF2B5EF4-FFF2-40B4-BE49-F238E27FC236}">
                <a16:creationId xmlns:a16="http://schemas.microsoft.com/office/drawing/2014/main" id="{B9AD1160-5EB2-49EA-B09B-39BA486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81475"/>
            <a:ext cx="168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FastAPI with background workers</a:t>
            </a:r>
          </a:p>
        </p:txBody>
      </p:sp>
      <p:cxnSp>
        <p:nvCxnSpPr>
          <p:cNvPr id="52" name="platform-arrow-2">
            <a:extLst xmlns:a="http://schemas.openxmlformats.org/drawingml/2006/main">
              <a:ext uri="{FF2B5EF4-FFF2-40B4-BE49-F238E27FC236}">
                <a16:creationId xmlns:a16="http://schemas.microsoft.com/office/drawing/2014/main" id="{9A6A1E2E-13EA-4387-BE1D-B2BA3B5C6A46}"/>
              </a:ext>
            </a:extLst>
          </p:cNvPr>
          <p:cNvCxnSpPr/>
          <p:nvPr/>
        </p:nvCxnSpPr>
        <p:spPr>
          <a:xfrm xmlns:a="http://schemas.openxmlformats.org/drawingml/2006/main">
            <a:off x="10172700" y="46101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D9BA8"/>
            </a:solidFill>
            <a:prstDash val="solid"/>
            <a:tailEnd type="triangle" w="sm" len="sm"/>
          </a:ln>
        </p:spPr>
      </p:cxnSp>
      <p:sp>
        <p:nvSpPr>
          <p:cNvPr id="53" name="platform-3">
            <a:extLst xmlns:a="http://schemas.openxmlformats.org/drawingml/2006/main">
              <a:ext uri="{FF2B5EF4-FFF2-40B4-BE49-F238E27FC236}">
                <a16:creationId xmlns:a16="http://schemas.microsoft.com/office/drawing/2014/main" id="{17BA08B6-699E-4D2C-8FD5-1F40226E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72025"/>
            <a:ext cx="29432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4E4"/>
            </a:solidFill>
            <a:prstDash val="solid"/>
          </a:ln>
        </p:spPr>
      </p:sp>
      <p:sp>
        <p:nvSpPr>
          <p:cNvPr id="54" name="platform-3-label">
            <a:extLst xmlns:a="http://schemas.openxmlformats.org/drawingml/2006/main">
              <a:ext uri="{FF2B5EF4-FFF2-40B4-BE49-F238E27FC236}">
                <a16:creationId xmlns:a16="http://schemas.microsoft.com/office/drawing/2014/main" id="{7C2A7BA7-B13F-426B-96F0-1D9A31D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38700"/>
            <a:ext cx="942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65B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5B91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55" name="platform-3-detail">
            <a:extLst xmlns:a="http://schemas.openxmlformats.org/drawingml/2006/main">
              <a:ext uri="{FF2B5EF4-FFF2-40B4-BE49-F238E27FC236}">
                <a16:creationId xmlns:a16="http://schemas.microsoft.com/office/drawing/2014/main" id="{20DD3CD8-DCBA-47DE-9877-335CD982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38700"/>
            <a:ext cx="168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Color highlights and corrections</a:t>
            </a:r>
          </a:p>
        </p:txBody>
      </p:sp>
      <p:sp>
        <p:nvSpPr>
          <p:cNvPr id="56" name="platform-stack">
            <a:extLst xmlns:a="http://schemas.openxmlformats.org/drawingml/2006/main">
              <a:ext uri="{FF2B5EF4-FFF2-40B4-BE49-F238E27FC236}">
                <a16:creationId xmlns:a16="http://schemas.microsoft.com/office/drawing/2014/main" id="{91573FF5-EFF9-4BD4-916D-EEE66D42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34025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84"/>
          </a:bodyPr>
          <a:lstStyle xmlns:a="http://schemas.openxmlformats.org/drawingml/2006/main">
            <a:defPPr algn="l"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4E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E6574"/>
                </a:solidFill>
                <a:latin typeface="Arial"/>
                <a:ea typeface="Arial"/>
                <a:cs typeface="Arial"/>
              </a:rPr>
              <a:t>Next.js 16, FastAPI, Celery, Redis and PostgreSQL</a:t>
            </a:r>
          </a:p>
        </p:txBody>
      </p:sp>
      <p:sp>
        <p:nvSpPr>
          <p:cNvPr id="57" name="results-band">
            <a:extLst xmlns:a="http://schemas.openxmlformats.org/drawingml/2006/main">
              <a:ext uri="{FF2B5EF4-FFF2-40B4-BE49-F238E27FC236}">
                <a16:creationId xmlns:a16="http://schemas.microsoft.com/office/drawing/2014/main" id="{EB52123A-1E54-44F6-98A8-D06E913E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results-label">
            <a:extLst xmlns:a="http://schemas.openxmlformats.org/drawingml/2006/main">
              <a:ext uri="{FF2B5EF4-FFF2-40B4-BE49-F238E27FC236}">
                <a16:creationId xmlns:a16="http://schemas.microsoft.com/office/drawing/2014/main" id="{E311DCE8-8FEB-453C-9F1D-A813762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DE1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9DE1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DE1E5"/>
                </a:solidFill>
                <a:latin typeface="Arial"/>
                <a:ea typeface="Arial"/>
                <a:cs typeface="Arial"/>
              </a:rPr>
              <a:t>SELECT RESULTS  ·  MACRO-F1</a:t>
            </a:r>
          </a:p>
        </p:txBody>
      </p:sp>
      <p:sp>
        <p:nvSpPr>
          <p:cNvPr id="59" name="result-1">
            <a:extLst xmlns:a="http://schemas.openxmlformats.org/drawingml/2006/main">
              <a:ext uri="{FF2B5EF4-FFF2-40B4-BE49-F238E27FC236}">
                <a16:creationId xmlns:a16="http://schemas.microsoft.com/office/drawing/2014/main" id="{BC5D80AC-8B03-4027-8D0E-30FC0D7F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38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0.9985</a:t>
            </a:r>
          </a:p>
        </p:txBody>
      </p:sp>
      <p:sp>
        <p:nvSpPr>
          <p:cNvPr id="60" name="result-1-caption">
            <a:extLst xmlns:a="http://schemas.openxmlformats.org/drawingml/2006/main">
              <a:ext uri="{FF2B5EF4-FFF2-40B4-BE49-F238E27FC236}">
                <a16:creationId xmlns:a16="http://schemas.microsoft.com/office/drawing/2014/main" id="{BC55D6EF-A3AD-4DF4-8909-D4A0149F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7F1"/>
                </a:solidFill>
                <a:latin typeface="Arial"/>
                <a:ea typeface="Arial"/>
                <a:cs typeface="Arial"/>
              </a:rPr>
              <a:t>MNB, full sentence</a:t>
            </a:r>
          </a:p>
        </p:txBody>
      </p:sp>
      <p:sp>
        <p:nvSpPr>
          <p:cNvPr id="61" name="footer-divider-1">
            <a:extLst xmlns:a="http://schemas.openxmlformats.org/drawingml/2006/main">
              <a:ext uri="{FF2B5EF4-FFF2-40B4-BE49-F238E27FC236}">
                <a16:creationId xmlns:a16="http://schemas.microsoft.com/office/drawing/2014/main" id="{04CDECBF-7871-405F-A46D-726D56D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2103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1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esult-2">
            <a:extLst xmlns:a="http://schemas.openxmlformats.org/drawingml/2006/main">
              <a:ext uri="{FF2B5EF4-FFF2-40B4-BE49-F238E27FC236}">
                <a16:creationId xmlns:a16="http://schemas.microsoft.com/office/drawing/2014/main" id="{2E464165-5CCA-4DC1-AC75-B718F73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334125"/>
            <a:ext cx="138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0.8584</a:t>
            </a:r>
          </a:p>
        </p:txBody>
      </p:sp>
      <p:sp>
        <p:nvSpPr>
          <p:cNvPr id="63" name="result-2-caption">
            <a:extLst xmlns:a="http://schemas.openxmlformats.org/drawingml/2006/main">
              <a:ext uri="{FF2B5EF4-FFF2-40B4-BE49-F238E27FC236}">
                <a16:creationId xmlns:a16="http://schemas.microsoft.com/office/drawing/2014/main" id="{520F8DD6-D76D-4B65-A771-3422DDC4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38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7F1"/>
                </a:solidFill>
                <a:latin typeface="Arial"/>
                <a:ea typeface="Arial"/>
                <a:cs typeface="Arial"/>
              </a:rPr>
              <a:t>MNB, one word</a:t>
            </a:r>
          </a:p>
        </p:txBody>
      </p:sp>
      <p:sp>
        <p:nvSpPr>
          <p:cNvPr id="64" name="footer-divider-2">
            <a:extLst xmlns:a="http://schemas.openxmlformats.org/drawingml/2006/main">
              <a:ext uri="{FF2B5EF4-FFF2-40B4-BE49-F238E27FC236}">
                <a16:creationId xmlns:a16="http://schemas.microsoft.com/office/drawing/2014/main" id="{142A38E5-446C-4711-BA60-43FA7BE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103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1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-3">
            <a:extLst xmlns:a="http://schemas.openxmlformats.org/drawingml/2006/main">
              <a:ext uri="{FF2B5EF4-FFF2-40B4-BE49-F238E27FC236}">
                <a16:creationId xmlns:a16="http://schemas.microsoft.com/office/drawing/2014/main" id="{B13CAB7B-DAA9-4E09-9868-825EAB3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334125"/>
            <a:ext cx="138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0.9530</a:t>
            </a:r>
          </a:p>
        </p:txBody>
      </p:sp>
      <p:sp>
        <p:nvSpPr>
          <p:cNvPr id="66" name="result-3-caption">
            <a:extLst xmlns:a="http://schemas.openxmlformats.org/drawingml/2006/main">
              <a:ext uri="{FF2B5EF4-FFF2-40B4-BE49-F238E27FC236}">
                <a16:creationId xmlns:a16="http://schemas.microsoft.com/office/drawing/2014/main" id="{CFD6C743-059C-424D-9222-5B978AAC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381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4E7F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4E7F1"/>
                </a:solidFill>
                <a:latin typeface="Arial"/>
                <a:ea typeface="Arial"/>
                <a:cs typeface="Arial"/>
              </a:rPr>
              <a:t>NLLB, 11-language FLORES+</a:t>
            </a:r>
          </a:p>
        </p:txBody>
      </p:sp>
    </p:spTree>
    <p:extLst>
      <p:ext uri="{BB962C8B-B14F-4D97-AF65-F5344CB8AC3E}">
        <p14:creationId xmlns:p14="http://schemas.microsoft.com/office/powerpoint/2010/main" val="1762923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2026-10-08T04:40:38.3280000Z</dcterms:created>
  <dcterms:modified xsi:type="dcterms:W3CDTF">2026-10-08T04:40:38.3280000Z</dcterms:modified>
</coreProperties>
</file>